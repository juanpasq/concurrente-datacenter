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290" r:id="rId6"/>
    <p:sldId id="291" r:id="rId7"/>
    <p:sldId id="293" r:id="rId8"/>
    <p:sldId id="292" r:id="rId9"/>
    <p:sldId id="261" r:id="rId10"/>
    <p:sldId id="262" r:id="rId11"/>
    <p:sldId id="263" r:id="rId12"/>
    <p:sldId id="264" r:id="rId13"/>
    <p:sldId id="267" r:id="rId14"/>
    <p:sldId id="272" r:id="rId15"/>
    <p:sldId id="266" r:id="rId16"/>
    <p:sldId id="265" r:id="rId17"/>
    <p:sldId id="286" r:id="rId18"/>
    <p:sldId id="288" r:id="rId19"/>
    <p:sldId id="289" r:id="rId20"/>
    <p:sldId id="287" r:id="rId21"/>
    <p:sldId id="271" r:id="rId22"/>
    <p:sldId id="279" r:id="rId23"/>
    <p:sldId id="278" r:id="rId24"/>
    <p:sldId id="285" r:id="rId25"/>
  </p:sldIdLst>
  <p:sldSz cx="9144000" cy="5143500" type="screen16x9"/>
  <p:notesSz cx="6858000" cy="9144000"/>
  <p:embeddedFontLst>
    <p:embeddedFont>
      <p:font typeface="Exo 2" panose="020B0604020202020204" charset="0"/>
      <p:regular r:id="rId27"/>
      <p:bold r:id="rId28"/>
      <p:italic r:id="rId29"/>
      <p:boldItalic r:id="rId30"/>
    </p:embeddedFont>
    <p:embeddedFont>
      <p:font typeface="Overlock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Manuel Pasquali" initials="JP" lastIdx="2" clrIdx="0">
    <p:extLst>
      <p:ext uri="{19B8F6BF-5375-455C-9EA6-DF929625EA0E}">
        <p15:presenceInfo xmlns:p15="http://schemas.microsoft.com/office/powerpoint/2012/main" userId="df1c45e19dc63b4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c357ad6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c357ad67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478db6c9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478db6c9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478db6c9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478db6c95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c357ad677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c357ad677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BA279C63-E01E-AEE0-7820-B9B927B3F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c357ad677_0_372:notes">
            <a:extLst>
              <a:ext uri="{FF2B5EF4-FFF2-40B4-BE49-F238E27FC236}">
                <a16:creationId xmlns:a16="http://schemas.microsoft.com/office/drawing/2014/main" id="{C9BDE32C-5798-8896-FB90-4D166D7E2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c357ad677_0_372:notes">
            <a:extLst>
              <a:ext uri="{FF2B5EF4-FFF2-40B4-BE49-F238E27FC236}">
                <a16:creationId xmlns:a16="http://schemas.microsoft.com/office/drawing/2014/main" id="{062477C3-3E86-7C31-EB3C-1C2A81CB0E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2062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5826DD77-70FD-B31B-E4E0-6B46747D6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c357ad677_0_372:notes">
            <a:extLst>
              <a:ext uri="{FF2B5EF4-FFF2-40B4-BE49-F238E27FC236}">
                <a16:creationId xmlns:a16="http://schemas.microsoft.com/office/drawing/2014/main" id="{BE813E05-F77A-7933-646C-6C977BFC60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c357ad677_0_372:notes">
            <a:extLst>
              <a:ext uri="{FF2B5EF4-FFF2-40B4-BE49-F238E27FC236}">
                <a16:creationId xmlns:a16="http://schemas.microsoft.com/office/drawing/2014/main" id="{1A5A4253-D1F1-9FF1-B168-2ECE491BA2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0915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D604D5D5-AC4B-4C66-5042-9B4C7C343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c357ad677_0_372:notes">
            <a:extLst>
              <a:ext uri="{FF2B5EF4-FFF2-40B4-BE49-F238E27FC236}">
                <a16:creationId xmlns:a16="http://schemas.microsoft.com/office/drawing/2014/main" id="{DD9A849E-7F92-F95F-95A0-D1D4CA834F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c357ad677_0_372:notes">
            <a:extLst>
              <a:ext uri="{FF2B5EF4-FFF2-40B4-BE49-F238E27FC236}">
                <a16:creationId xmlns:a16="http://schemas.microsoft.com/office/drawing/2014/main" id="{48D3DFAB-5C49-30E0-8473-3FBFD028BC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652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23797B29-7515-E7A7-C623-C5F7DCED2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c357ad677_0_372:notes">
            <a:extLst>
              <a:ext uri="{FF2B5EF4-FFF2-40B4-BE49-F238E27FC236}">
                <a16:creationId xmlns:a16="http://schemas.microsoft.com/office/drawing/2014/main" id="{82F5F860-BDA5-4201-E7AB-5A116742A1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c357ad677_0_372:notes">
            <a:extLst>
              <a:ext uri="{FF2B5EF4-FFF2-40B4-BE49-F238E27FC236}">
                <a16:creationId xmlns:a16="http://schemas.microsoft.com/office/drawing/2014/main" id="{6DA22ABE-104B-0D5B-FB47-C05AC65723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887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8e7a3ba08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8e7a3ba083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478db6c9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478db6c9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478db6c9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478db6c95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c7cef7ef6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c7cef7ef6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478db6c95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478db6c95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4b1ef5f7d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4b1ef5f7d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4b1ef5f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4b1ef5f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478db6c95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478db6c95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0186C9DC-6846-4C31-BABA-2754CB167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478db6c95_0_161:notes">
            <a:extLst>
              <a:ext uri="{FF2B5EF4-FFF2-40B4-BE49-F238E27FC236}">
                <a16:creationId xmlns:a16="http://schemas.microsoft.com/office/drawing/2014/main" id="{65552710-5243-DDC1-6398-20B719DEAD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478db6c95_0_161:notes">
            <a:extLst>
              <a:ext uri="{FF2B5EF4-FFF2-40B4-BE49-F238E27FC236}">
                <a16:creationId xmlns:a16="http://schemas.microsoft.com/office/drawing/2014/main" id="{3B0423E8-2237-51FB-64D0-B8DABDF40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6618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9A577809-A896-C959-EBE5-77AD5E13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478db6c95_0_161:notes">
            <a:extLst>
              <a:ext uri="{FF2B5EF4-FFF2-40B4-BE49-F238E27FC236}">
                <a16:creationId xmlns:a16="http://schemas.microsoft.com/office/drawing/2014/main" id="{85029B7D-DCA1-C958-7479-AB8B6CBE7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478db6c95_0_161:notes">
            <a:extLst>
              <a:ext uri="{FF2B5EF4-FFF2-40B4-BE49-F238E27FC236}">
                <a16:creationId xmlns:a16="http://schemas.microsoft.com/office/drawing/2014/main" id="{8DE23FE9-EF7A-1B1D-100C-D746E2021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2461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9B4A9891-7888-EEA0-69B0-97E08C48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478db6c95_0_161:notes">
            <a:extLst>
              <a:ext uri="{FF2B5EF4-FFF2-40B4-BE49-F238E27FC236}">
                <a16:creationId xmlns:a16="http://schemas.microsoft.com/office/drawing/2014/main" id="{ADD7DA88-3C8A-7BFA-F2A7-DF8120E20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478db6c95_0_161:notes">
            <a:extLst>
              <a:ext uri="{FF2B5EF4-FFF2-40B4-BE49-F238E27FC236}">
                <a16:creationId xmlns:a16="http://schemas.microsoft.com/office/drawing/2014/main" id="{D04A05A8-32D3-6280-DBD6-7A6E5B7CD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65822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5F4870FB-F1E6-724A-F2FC-A28A9A22F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4b1ef5f7d_0_29:notes">
            <a:extLst>
              <a:ext uri="{FF2B5EF4-FFF2-40B4-BE49-F238E27FC236}">
                <a16:creationId xmlns:a16="http://schemas.microsoft.com/office/drawing/2014/main" id="{8FE0DA2B-B5A4-09CA-61AC-C850437F95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4b1ef5f7d_0_29:notes">
            <a:extLst>
              <a:ext uri="{FF2B5EF4-FFF2-40B4-BE49-F238E27FC236}">
                <a16:creationId xmlns:a16="http://schemas.microsoft.com/office/drawing/2014/main" id="{5837DAC1-0F47-3F14-2EA4-6E61CCD1F2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12384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478db6c95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478db6c95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4b1ef5f7d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a4b1ef5f7d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4b1ef5f7d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a4b1ef5f7d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8e7a3ba083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8e7a3ba083_2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14575" y="874368"/>
            <a:ext cx="6428400" cy="271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85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90775" y="3683843"/>
            <a:ext cx="7572000" cy="4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1468552" y="2493288"/>
            <a:ext cx="42075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2"/>
          </p:nvPr>
        </p:nvSpPr>
        <p:spPr>
          <a:xfrm>
            <a:off x="1468552" y="3179041"/>
            <a:ext cx="4641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hasCustomPrompt="1"/>
          </p:nvPr>
        </p:nvSpPr>
        <p:spPr>
          <a:xfrm>
            <a:off x="1468552" y="1226638"/>
            <a:ext cx="2155500" cy="14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0100"/>
              <a:buNone/>
              <a:defRPr sz="85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1167900" y="2161997"/>
            <a:ext cx="3195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6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○"/>
              <a:defRPr>
                <a:solidFill>
                  <a:schemeClr val="accent3"/>
                </a:solidFill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  <a:defRPr>
                <a:solidFill>
                  <a:schemeClr val="accent3"/>
                </a:solidFill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>
                <a:solidFill>
                  <a:schemeClr val="accent3"/>
                </a:solidFill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○"/>
              <a:defRPr>
                <a:solidFill>
                  <a:schemeClr val="accent3"/>
                </a:solidFill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  <a:defRPr>
                <a:solidFill>
                  <a:schemeClr val="accent3"/>
                </a:solidFill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>
                <a:solidFill>
                  <a:schemeClr val="accent3"/>
                </a:solidFill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○"/>
              <a:defRPr>
                <a:solidFill>
                  <a:schemeClr val="accent3"/>
                </a:solidFill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32730" y="1681738"/>
            <a:ext cx="38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30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1414338" y="2002700"/>
            <a:ext cx="2795100" cy="17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▶"/>
              <a:defRPr sz="1400">
                <a:solidFill>
                  <a:schemeClr val="accent3"/>
                </a:solidFill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2"/>
          </p:nvPr>
        </p:nvSpPr>
        <p:spPr>
          <a:xfrm>
            <a:off x="1282237" y="1678675"/>
            <a:ext cx="2927100" cy="2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3"/>
          </p:nvPr>
        </p:nvSpPr>
        <p:spPr>
          <a:xfrm>
            <a:off x="5066638" y="2002700"/>
            <a:ext cx="2795100" cy="17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✖"/>
              <a:defRPr sz="1400">
                <a:solidFill>
                  <a:schemeClr val="accent3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4"/>
          </p:nvPr>
        </p:nvSpPr>
        <p:spPr>
          <a:xfrm>
            <a:off x="4934537" y="1678675"/>
            <a:ext cx="2927100" cy="2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905850" y="2161997"/>
            <a:ext cx="3195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6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○"/>
              <a:defRPr>
                <a:solidFill>
                  <a:schemeClr val="accent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  <a:defRPr>
                <a:solidFill>
                  <a:schemeClr val="accent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>
                <a:solidFill>
                  <a:schemeClr val="accent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○"/>
              <a:defRPr>
                <a:solidFill>
                  <a:schemeClr val="accent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  <a:defRPr>
                <a:solidFill>
                  <a:schemeClr val="accent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>
                <a:solidFill>
                  <a:schemeClr val="accent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○"/>
              <a:defRPr>
                <a:solidFill>
                  <a:schemeClr val="accent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370680" y="1681738"/>
            <a:ext cx="38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30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ctrTitle"/>
          </p:nvPr>
        </p:nvSpPr>
        <p:spPr>
          <a:xfrm>
            <a:off x="977575" y="1606051"/>
            <a:ext cx="6428400" cy="19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ctrTitle"/>
          </p:nvPr>
        </p:nvSpPr>
        <p:spPr>
          <a:xfrm>
            <a:off x="1014575" y="1833772"/>
            <a:ext cx="6428400" cy="14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85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1090775" y="3021000"/>
            <a:ext cx="4641600" cy="15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841150" y="516275"/>
            <a:ext cx="70644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603325" y="1767557"/>
            <a:ext cx="7937400" cy="145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2000"/>
              <a:buNone/>
              <a:defRPr sz="96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603300" y="3086585"/>
            <a:ext cx="7937400" cy="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Overlock"/>
              <a:buChar char="●"/>
              <a:defRPr sz="1700">
                <a:solidFill>
                  <a:schemeClr val="accent3"/>
                </a:solidFill>
              </a:defRPr>
            </a:lvl1pPr>
            <a:lvl2pPr marL="914400" lvl="1" indent="-355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Overlock"/>
              <a:buChar char="○"/>
              <a:defRPr sz="2000">
                <a:solidFill>
                  <a:srgbClr val="F6F6F6"/>
                </a:solidFill>
                <a:latin typeface="Overlock"/>
                <a:ea typeface="Overlock"/>
                <a:cs typeface="Overlock"/>
                <a:sym typeface="Overlock"/>
              </a:defRPr>
            </a:lvl2pPr>
            <a:lvl3pPr marL="1371600" lvl="2" indent="-355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Overlock"/>
              <a:buChar char="■"/>
              <a:defRPr sz="2000">
                <a:solidFill>
                  <a:srgbClr val="F6F6F6"/>
                </a:solidFill>
                <a:latin typeface="Overlock"/>
                <a:ea typeface="Overlock"/>
                <a:cs typeface="Overlock"/>
                <a:sym typeface="Overlock"/>
              </a:defRPr>
            </a:lvl3pPr>
            <a:lvl4pPr marL="1828800" lvl="3" indent="-355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Overlock"/>
              <a:buChar char="●"/>
              <a:defRPr sz="2000">
                <a:solidFill>
                  <a:srgbClr val="F6F6F6"/>
                </a:solidFill>
                <a:latin typeface="Overlock"/>
                <a:ea typeface="Overlock"/>
                <a:cs typeface="Overlock"/>
                <a:sym typeface="Overlock"/>
              </a:defRPr>
            </a:lvl4pPr>
            <a:lvl5pPr marL="2286000" lvl="4" indent="-355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Overlock"/>
              <a:buChar char="○"/>
              <a:defRPr sz="2000">
                <a:solidFill>
                  <a:srgbClr val="F6F6F6"/>
                </a:solidFill>
                <a:latin typeface="Overlock"/>
                <a:ea typeface="Overlock"/>
                <a:cs typeface="Overlock"/>
                <a:sym typeface="Overlock"/>
              </a:defRPr>
            </a:lvl5pPr>
            <a:lvl6pPr marL="2743200" lvl="5" indent="-355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Overlock"/>
              <a:buChar char="■"/>
              <a:defRPr sz="2000">
                <a:solidFill>
                  <a:srgbClr val="F6F6F6"/>
                </a:solidFill>
                <a:latin typeface="Overlock"/>
                <a:ea typeface="Overlock"/>
                <a:cs typeface="Overlock"/>
                <a:sym typeface="Overlock"/>
              </a:defRPr>
            </a:lvl6pPr>
            <a:lvl7pPr marL="3200400" lvl="6" indent="-355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Overlock"/>
              <a:buChar char="●"/>
              <a:defRPr sz="2000">
                <a:solidFill>
                  <a:srgbClr val="F6F6F6"/>
                </a:solidFill>
                <a:latin typeface="Overlock"/>
                <a:ea typeface="Overlock"/>
                <a:cs typeface="Overlock"/>
                <a:sym typeface="Overlock"/>
              </a:defRPr>
            </a:lvl7pPr>
            <a:lvl8pPr marL="3657600" lvl="7" indent="-355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Overlock"/>
              <a:buChar char="○"/>
              <a:defRPr sz="2000">
                <a:solidFill>
                  <a:srgbClr val="F6F6F6"/>
                </a:solidFill>
                <a:latin typeface="Overlock"/>
                <a:ea typeface="Overlock"/>
                <a:cs typeface="Overlock"/>
                <a:sym typeface="Overlock"/>
              </a:defRPr>
            </a:lvl8pPr>
            <a:lvl9pPr marL="4114800" lvl="8" indent="-355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Overlock"/>
              <a:buChar char="■"/>
              <a:defRPr sz="2000">
                <a:solidFill>
                  <a:srgbClr val="F6F6F6"/>
                </a:solidFill>
                <a:latin typeface="Overlock"/>
                <a:ea typeface="Overlock"/>
                <a:cs typeface="Overlock"/>
                <a:sym typeface="Overlo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8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8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0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subTitle" idx="1"/>
          </p:nvPr>
        </p:nvSpPr>
        <p:spPr>
          <a:xfrm>
            <a:off x="1589475" y="3272563"/>
            <a:ext cx="23979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ubTitle" idx="2"/>
          </p:nvPr>
        </p:nvSpPr>
        <p:spPr>
          <a:xfrm>
            <a:off x="1448025" y="3541888"/>
            <a:ext cx="2680800" cy="8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ubTitle" idx="3"/>
          </p:nvPr>
        </p:nvSpPr>
        <p:spPr>
          <a:xfrm>
            <a:off x="5159050" y="3272575"/>
            <a:ext cx="23931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subTitle" idx="4"/>
          </p:nvPr>
        </p:nvSpPr>
        <p:spPr>
          <a:xfrm>
            <a:off x="5015163" y="3541900"/>
            <a:ext cx="2680800" cy="8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ubTitle" idx="1"/>
          </p:nvPr>
        </p:nvSpPr>
        <p:spPr>
          <a:xfrm>
            <a:off x="1025725" y="2415125"/>
            <a:ext cx="23880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subTitle" idx="2"/>
          </p:nvPr>
        </p:nvSpPr>
        <p:spPr>
          <a:xfrm>
            <a:off x="1025725" y="2684450"/>
            <a:ext cx="2388000" cy="7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subTitle" idx="3"/>
          </p:nvPr>
        </p:nvSpPr>
        <p:spPr>
          <a:xfrm>
            <a:off x="3390641" y="2415125"/>
            <a:ext cx="23832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ubTitle" idx="4"/>
          </p:nvPr>
        </p:nvSpPr>
        <p:spPr>
          <a:xfrm>
            <a:off x="3390688" y="2684450"/>
            <a:ext cx="2383200" cy="7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subTitle" idx="5"/>
          </p:nvPr>
        </p:nvSpPr>
        <p:spPr>
          <a:xfrm>
            <a:off x="5750729" y="2415125"/>
            <a:ext cx="23883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subTitle" idx="6"/>
          </p:nvPr>
        </p:nvSpPr>
        <p:spPr>
          <a:xfrm>
            <a:off x="5750879" y="2684450"/>
            <a:ext cx="2388000" cy="7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subTitle" idx="7"/>
          </p:nvPr>
        </p:nvSpPr>
        <p:spPr>
          <a:xfrm>
            <a:off x="1725775" y="3350400"/>
            <a:ext cx="9879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ubTitle" idx="8"/>
          </p:nvPr>
        </p:nvSpPr>
        <p:spPr>
          <a:xfrm>
            <a:off x="4088387" y="3350400"/>
            <a:ext cx="9879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subTitle" idx="9"/>
          </p:nvPr>
        </p:nvSpPr>
        <p:spPr>
          <a:xfrm>
            <a:off x="6450929" y="3350400"/>
            <a:ext cx="9879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subTitle" idx="1"/>
          </p:nvPr>
        </p:nvSpPr>
        <p:spPr>
          <a:xfrm>
            <a:off x="675425" y="2443175"/>
            <a:ext cx="23979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subTitle" idx="2"/>
          </p:nvPr>
        </p:nvSpPr>
        <p:spPr>
          <a:xfrm>
            <a:off x="675425" y="2712500"/>
            <a:ext cx="2397900" cy="8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subTitle" idx="3"/>
          </p:nvPr>
        </p:nvSpPr>
        <p:spPr>
          <a:xfrm>
            <a:off x="3385725" y="2443175"/>
            <a:ext cx="23931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ubTitle" idx="4"/>
          </p:nvPr>
        </p:nvSpPr>
        <p:spPr>
          <a:xfrm>
            <a:off x="3385725" y="2712500"/>
            <a:ext cx="2393100" cy="8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subTitle" idx="5"/>
          </p:nvPr>
        </p:nvSpPr>
        <p:spPr>
          <a:xfrm>
            <a:off x="6091225" y="2443175"/>
            <a:ext cx="23982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ubTitle" idx="6"/>
          </p:nvPr>
        </p:nvSpPr>
        <p:spPr>
          <a:xfrm>
            <a:off x="6091375" y="2712500"/>
            <a:ext cx="2397900" cy="8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subTitle" idx="1"/>
          </p:nvPr>
        </p:nvSpPr>
        <p:spPr>
          <a:xfrm>
            <a:off x="1381950" y="2199275"/>
            <a:ext cx="23865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ubTitle" idx="2"/>
          </p:nvPr>
        </p:nvSpPr>
        <p:spPr>
          <a:xfrm>
            <a:off x="1381950" y="2468600"/>
            <a:ext cx="23865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subTitle" idx="3"/>
          </p:nvPr>
        </p:nvSpPr>
        <p:spPr>
          <a:xfrm>
            <a:off x="1381950" y="3163475"/>
            <a:ext cx="23865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ubTitle" idx="4"/>
          </p:nvPr>
        </p:nvSpPr>
        <p:spPr>
          <a:xfrm>
            <a:off x="1381950" y="3432800"/>
            <a:ext cx="23865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subTitle" idx="5"/>
          </p:nvPr>
        </p:nvSpPr>
        <p:spPr>
          <a:xfrm>
            <a:off x="1381950" y="1235075"/>
            <a:ext cx="23865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subTitle" idx="6"/>
          </p:nvPr>
        </p:nvSpPr>
        <p:spPr>
          <a:xfrm>
            <a:off x="1381950" y="1504400"/>
            <a:ext cx="23865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>
            <a:spLocks noGrp="1"/>
          </p:cNvSpPr>
          <p:nvPr>
            <p:ph type="subTitle" idx="1"/>
          </p:nvPr>
        </p:nvSpPr>
        <p:spPr>
          <a:xfrm>
            <a:off x="1092625" y="1636769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subTitle" idx="2"/>
          </p:nvPr>
        </p:nvSpPr>
        <p:spPr>
          <a:xfrm>
            <a:off x="1048225" y="1892643"/>
            <a:ext cx="22692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subTitle" idx="3"/>
          </p:nvPr>
        </p:nvSpPr>
        <p:spPr>
          <a:xfrm>
            <a:off x="1114825" y="3055263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subTitle" idx="4"/>
          </p:nvPr>
        </p:nvSpPr>
        <p:spPr>
          <a:xfrm>
            <a:off x="1070429" y="3311140"/>
            <a:ext cx="22692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subTitle" idx="5"/>
          </p:nvPr>
        </p:nvSpPr>
        <p:spPr>
          <a:xfrm>
            <a:off x="5826575" y="3055263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subTitle" idx="6"/>
          </p:nvPr>
        </p:nvSpPr>
        <p:spPr>
          <a:xfrm>
            <a:off x="5826582" y="3311140"/>
            <a:ext cx="22692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ubTitle" idx="7"/>
          </p:nvPr>
        </p:nvSpPr>
        <p:spPr>
          <a:xfrm>
            <a:off x="5826575" y="1640519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ubTitle" idx="8"/>
          </p:nvPr>
        </p:nvSpPr>
        <p:spPr>
          <a:xfrm>
            <a:off x="5826577" y="1896388"/>
            <a:ext cx="22692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>
            <a:spLocks noGrp="1"/>
          </p:cNvSpPr>
          <p:nvPr>
            <p:ph type="subTitle" idx="1"/>
          </p:nvPr>
        </p:nvSpPr>
        <p:spPr>
          <a:xfrm>
            <a:off x="869228" y="1502982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subTitle" idx="2"/>
          </p:nvPr>
        </p:nvSpPr>
        <p:spPr>
          <a:xfrm>
            <a:off x="878452" y="1772307"/>
            <a:ext cx="2224800" cy="8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ubTitle" idx="3"/>
          </p:nvPr>
        </p:nvSpPr>
        <p:spPr>
          <a:xfrm>
            <a:off x="3541852" y="1502982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subTitle" idx="4"/>
          </p:nvPr>
        </p:nvSpPr>
        <p:spPr>
          <a:xfrm>
            <a:off x="3548000" y="1772300"/>
            <a:ext cx="2224800" cy="8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subTitle" idx="5"/>
          </p:nvPr>
        </p:nvSpPr>
        <p:spPr>
          <a:xfrm>
            <a:off x="6210577" y="1502982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subTitle" idx="6"/>
          </p:nvPr>
        </p:nvSpPr>
        <p:spPr>
          <a:xfrm>
            <a:off x="6216731" y="1772300"/>
            <a:ext cx="2224800" cy="8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ubTitle" idx="7"/>
          </p:nvPr>
        </p:nvSpPr>
        <p:spPr>
          <a:xfrm>
            <a:off x="869228" y="3259632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ubTitle" idx="8"/>
          </p:nvPr>
        </p:nvSpPr>
        <p:spPr>
          <a:xfrm>
            <a:off x="878452" y="3528957"/>
            <a:ext cx="2224800" cy="8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subTitle" idx="9"/>
          </p:nvPr>
        </p:nvSpPr>
        <p:spPr>
          <a:xfrm>
            <a:off x="3541852" y="3259632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subTitle" idx="13"/>
          </p:nvPr>
        </p:nvSpPr>
        <p:spPr>
          <a:xfrm>
            <a:off x="3548001" y="3528957"/>
            <a:ext cx="2224800" cy="8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subTitle" idx="14"/>
          </p:nvPr>
        </p:nvSpPr>
        <p:spPr>
          <a:xfrm>
            <a:off x="6210577" y="3259632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 sz="19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subTitle" idx="15"/>
          </p:nvPr>
        </p:nvSpPr>
        <p:spPr>
          <a:xfrm>
            <a:off x="6216727" y="3528957"/>
            <a:ext cx="2224800" cy="8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>
            <a:spLocks noGrp="1"/>
          </p:cNvSpPr>
          <p:nvPr>
            <p:ph type="ctrTitle"/>
          </p:nvPr>
        </p:nvSpPr>
        <p:spPr>
          <a:xfrm>
            <a:off x="1166975" y="803526"/>
            <a:ext cx="3557400" cy="97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subTitle" idx="1"/>
          </p:nvPr>
        </p:nvSpPr>
        <p:spPr>
          <a:xfrm>
            <a:off x="1166975" y="1734313"/>
            <a:ext cx="3557400" cy="33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subTitle" idx="2"/>
          </p:nvPr>
        </p:nvSpPr>
        <p:spPr>
          <a:xfrm>
            <a:off x="1166975" y="2136122"/>
            <a:ext cx="3557400" cy="7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23" name="Google Shape;123;p26"/>
          <p:cNvSpPr txBox="1"/>
          <p:nvPr/>
        </p:nvSpPr>
        <p:spPr>
          <a:xfrm>
            <a:off x="1166975" y="3436125"/>
            <a:ext cx="3405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rPr>
              <a:t>CREDITS: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Exo 2"/>
                <a:ea typeface="Exo 2"/>
                <a:cs typeface="Exo 2"/>
                <a:sym typeface="Exo 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,</a:t>
            </a:r>
            <a:r>
              <a:rPr lang="en" sz="11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rPr>
              <a:t>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Exo 2"/>
                <a:ea typeface="Exo 2"/>
                <a:cs typeface="Exo 2"/>
                <a:sym typeface="Exo 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,</a:t>
            </a:r>
            <a:r>
              <a:rPr lang="en" sz="11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rPr>
              <a:t> and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Exo 2"/>
                <a:ea typeface="Exo 2"/>
                <a:cs typeface="Exo 2"/>
                <a:sym typeface="Exo 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.</a:t>
            </a:r>
            <a:r>
              <a:rPr lang="en" sz="11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rPr>
              <a:t> </a:t>
            </a:r>
            <a:endParaRPr sz="1100">
              <a:solidFill>
                <a:schemeClr val="accent3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subTitle" idx="1"/>
          </p:nvPr>
        </p:nvSpPr>
        <p:spPr>
          <a:xfrm>
            <a:off x="624325" y="1149650"/>
            <a:ext cx="7902900" cy="35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>
            <a:spLocks noGrp="1"/>
          </p:cNvSpPr>
          <p:nvPr>
            <p:ph type="subTitle" idx="1"/>
          </p:nvPr>
        </p:nvSpPr>
        <p:spPr>
          <a:xfrm>
            <a:off x="1081525" y="1835450"/>
            <a:ext cx="7494900" cy="16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▶"/>
              <a:defRPr sz="12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8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3000"/>
              <a:buNone/>
              <a:defRPr>
                <a:solidFill>
                  <a:srgbClr val="F6F6F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2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5800" y="445025"/>
            <a:ext cx="7232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 2"/>
              <a:buNone/>
              <a:defRPr sz="30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 2"/>
              <a:buNone/>
              <a:defRPr sz="30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 2"/>
              <a:buNone/>
              <a:defRPr sz="30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 2"/>
              <a:buNone/>
              <a:defRPr sz="30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 2"/>
              <a:buNone/>
              <a:defRPr sz="30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 2"/>
              <a:buNone/>
              <a:defRPr sz="30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 2"/>
              <a:buNone/>
              <a:defRPr sz="30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 2"/>
              <a:buNone/>
              <a:defRPr sz="30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Exo 2"/>
              <a:buNone/>
              <a:defRPr sz="30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5800" y="1631550"/>
            <a:ext cx="7232400" cy="24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●"/>
              <a:defRPr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○"/>
              <a:defRPr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■"/>
              <a:defRPr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●"/>
              <a:defRPr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○"/>
              <a:defRPr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■"/>
              <a:defRPr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●"/>
              <a:defRPr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○"/>
              <a:defRPr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■"/>
              <a:defRPr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2" r:id="rId24"/>
    <p:sldLayoutId id="2147483673" r:id="rId25"/>
    <p:sldLayoutId id="2147483674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youremail@freepik.co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bit.ly/2TtBD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>
            <a:spLocks noGrp="1"/>
          </p:cNvSpPr>
          <p:nvPr>
            <p:ph type="ctrTitle"/>
          </p:nvPr>
        </p:nvSpPr>
        <p:spPr>
          <a:xfrm>
            <a:off x="1235499" y="510359"/>
            <a:ext cx="6428400" cy="30297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Monitoreo Datacenter</a:t>
            </a:r>
            <a:endParaRPr dirty="0"/>
          </a:p>
        </p:txBody>
      </p:sp>
      <p:sp>
        <p:nvSpPr>
          <p:cNvPr id="135" name="Google Shape;135;p29"/>
          <p:cNvSpPr txBox="1">
            <a:spLocks noGrp="1"/>
          </p:cNvSpPr>
          <p:nvPr>
            <p:ph type="subTitle" idx="1"/>
          </p:nvPr>
        </p:nvSpPr>
        <p:spPr>
          <a:xfrm>
            <a:off x="980320" y="3784636"/>
            <a:ext cx="7572000" cy="4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Herramienta de monitoreo de energia y temperatura de sala Datacenter.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Trabajo Final para Prog. Concurrente UCALP – Prof. Ing. Gustavo Cerveri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136;p29"/>
          <p:cNvSpPr/>
          <p:nvPr/>
        </p:nvSpPr>
        <p:spPr>
          <a:xfrm rot="5400000">
            <a:off x="839597" y="1423630"/>
            <a:ext cx="507900" cy="274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>
            <a:spLocks noGrp="1"/>
          </p:cNvSpPr>
          <p:nvPr>
            <p:ph type="subTitle" idx="1"/>
          </p:nvPr>
        </p:nvSpPr>
        <p:spPr>
          <a:xfrm>
            <a:off x="869228" y="2002711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Introducción</a:t>
            </a:r>
            <a:endParaRPr dirty="0"/>
          </a:p>
        </p:txBody>
      </p:sp>
      <p:sp>
        <p:nvSpPr>
          <p:cNvPr id="143" name="Google Shape;143;p30"/>
          <p:cNvSpPr txBox="1">
            <a:spLocks noGrp="1"/>
          </p:cNvSpPr>
          <p:nvPr>
            <p:ph type="subTitle" idx="1"/>
          </p:nvPr>
        </p:nvSpPr>
        <p:spPr>
          <a:xfrm>
            <a:off x="869228" y="1526811"/>
            <a:ext cx="977700" cy="5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rPr>
              <a:t>01</a:t>
            </a:r>
            <a:endParaRPr sz="3200">
              <a:solidFill>
                <a:schemeClr val="accent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4" name="Google Shape;144;p30"/>
          <p:cNvSpPr txBox="1">
            <a:spLocks noGrp="1"/>
          </p:cNvSpPr>
          <p:nvPr>
            <p:ph type="subTitle" idx="3"/>
          </p:nvPr>
        </p:nvSpPr>
        <p:spPr>
          <a:xfrm>
            <a:off x="3541852" y="2002711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general</a:t>
            </a:r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subTitle" idx="5"/>
          </p:nvPr>
        </p:nvSpPr>
        <p:spPr>
          <a:xfrm>
            <a:off x="6210577" y="2002711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Infraestructura</a:t>
            </a:r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subTitle" idx="7"/>
          </p:nvPr>
        </p:nvSpPr>
        <p:spPr>
          <a:xfrm>
            <a:off x="869228" y="3206467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Comportamiento</a:t>
            </a:r>
            <a:endParaRPr dirty="0"/>
          </a:p>
        </p:txBody>
      </p:sp>
      <p:sp>
        <p:nvSpPr>
          <p:cNvPr id="150" name="Google Shape;150;p30"/>
          <p:cNvSpPr txBox="1">
            <a:spLocks noGrp="1"/>
          </p:cNvSpPr>
          <p:nvPr>
            <p:ph type="subTitle" idx="9"/>
          </p:nvPr>
        </p:nvSpPr>
        <p:spPr>
          <a:xfrm>
            <a:off x="3541852" y="3206467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Conclusión </a:t>
            </a:r>
            <a:endParaRPr dirty="0"/>
          </a:p>
        </p:txBody>
      </p:sp>
      <p:sp>
        <p:nvSpPr>
          <p:cNvPr id="152" name="Google Shape;152;p30"/>
          <p:cNvSpPr txBox="1">
            <a:spLocks noGrp="1"/>
          </p:cNvSpPr>
          <p:nvPr>
            <p:ph type="subTitle" idx="1"/>
          </p:nvPr>
        </p:nvSpPr>
        <p:spPr>
          <a:xfrm>
            <a:off x="3541852" y="1526811"/>
            <a:ext cx="977700" cy="5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rPr>
              <a:t>02</a:t>
            </a:r>
            <a:endParaRPr sz="3200">
              <a:solidFill>
                <a:schemeClr val="accent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53" name="Google Shape;153;p30"/>
          <p:cNvSpPr txBox="1">
            <a:spLocks noGrp="1"/>
          </p:cNvSpPr>
          <p:nvPr>
            <p:ph type="subTitle" idx="1"/>
          </p:nvPr>
        </p:nvSpPr>
        <p:spPr>
          <a:xfrm>
            <a:off x="6204428" y="1526811"/>
            <a:ext cx="977700" cy="5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rPr>
              <a:t>03</a:t>
            </a:r>
            <a:endParaRPr sz="3200">
              <a:solidFill>
                <a:schemeClr val="accent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54" name="Google Shape;154;p30"/>
          <p:cNvSpPr txBox="1">
            <a:spLocks noGrp="1"/>
          </p:cNvSpPr>
          <p:nvPr>
            <p:ph type="subTitle" idx="1"/>
          </p:nvPr>
        </p:nvSpPr>
        <p:spPr>
          <a:xfrm>
            <a:off x="869228" y="2731374"/>
            <a:ext cx="977700" cy="5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rPr>
              <a:t>04</a:t>
            </a:r>
            <a:endParaRPr sz="3200">
              <a:solidFill>
                <a:schemeClr val="accent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55" name="Google Shape;155;p30"/>
          <p:cNvSpPr txBox="1">
            <a:spLocks noGrp="1"/>
          </p:cNvSpPr>
          <p:nvPr>
            <p:ph type="subTitle" idx="1"/>
          </p:nvPr>
        </p:nvSpPr>
        <p:spPr>
          <a:xfrm>
            <a:off x="3541852" y="2731374"/>
            <a:ext cx="977700" cy="5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3"/>
                </a:solidFill>
                <a:latin typeface="Exo 2"/>
                <a:ea typeface="Exo 2"/>
                <a:cs typeface="Exo 2"/>
                <a:sym typeface="Exo 2"/>
              </a:rPr>
              <a:t>05</a:t>
            </a:r>
            <a:endParaRPr sz="3200">
              <a:solidFill>
                <a:schemeClr val="accent3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56" name="Google Shape;156;p30"/>
          <p:cNvSpPr/>
          <p:nvPr/>
        </p:nvSpPr>
        <p:spPr>
          <a:xfrm rot="5400000">
            <a:off x="664394" y="1734542"/>
            <a:ext cx="252600" cy="136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0"/>
          <p:cNvSpPr/>
          <p:nvPr/>
        </p:nvSpPr>
        <p:spPr>
          <a:xfrm rot="5400000">
            <a:off x="3338069" y="1734542"/>
            <a:ext cx="252600" cy="136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0"/>
          <p:cNvSpPr/>
          <p:nvPr/>
        </p:nvSpPr>
        <p:spPr>
          <a:xfrm rot="5400000">
            <a:off x="5994504" y="1734542"/>
            <a:ext cx="252600" cy="136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0"/>
          <p:cNvSpPr/>
          <p:nvPr/>
        </p:nvSpPr>
        <p:spPr>
          <a:xfrm rot="5400000">
            <a:off x="664394" y="2937998"/>
            <a:ext cx="252600" cy="136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0"/>
          <p:cNvSpPr/>
          <p:nvPr/>
        </p:nvSpPr>
        <p:spPr>
          <a:xfrm rot="5400000">
            <a:off x="3338069" y="2937998"/>
            <a:ext cx="252600" cy="136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>
            <a:spLocks noGrp="1"/>
          </p:cNvSpPr>
          <p:nvPr>
            <p:ph type="subTitle" idx="1"/>
          </p:nvPr>
        </p:nvSpPr>
        <p:spPr>
          <a:xfrm>
            <a:off x="1468552" y="2493288"/>
            <a:ext cx="42075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</a:t>
            </a:r>
            <a:endParaRPr/>
          </a:p>
        </p:txBody>
      </p:sp>
      <p:sp>
        <p:nvSpPr>
          <p:cNvPr id="190" name="Google Shape;190;p32"/>
          <p:cNvSpPr/>
          <p:nvPr/>
        </p:nvSpPr>
        <p:spPr>
          <a:xfrm rot="5400000">
            <a:off x="1060635" y="1802347"/>
            <a:ext cx="507900" cy="274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2"/>
          <p:cNvSpPr txBox="1">
            <a:spLocks noGrp="1"/>
          </p:cNvSpPr>
          <p:nvPr>
            <p:ph type="subTitle" idx="2"/>
          </p:nvPr>
        </p:nvSpPr>
        <p:spPr>
          <a:xfrm>
            <a:off x="1468552" y="3179041"/>
            <a:ext cx="4641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Presentación y propósito de la propuesta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2" name="Google Shape;192;p32"/>
          <p:cNvSpPr txBox="1">
            <a:spLocks noGrp="1"/>
          </p:cNvSpPr>
          <p:nvPr>
            <p:ph type="title"/>
          </p:nvPr>
        </p:nvSpPr>
        <p:spPr>
          <a:xfrm>
            <a:off x="1468552" y="1226638"/>
            <a:ext cx="2155500" cy="14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>
            <a:spLocks noGrp="1"/>
          </p:cNvSpPr>
          <p:nvPr>
            <p:ph type="body" idx="1"/>
          </p:nvPr>
        </p:nvSpPr>
        <p:spPr>
          <a:xfrm>
            <a:off x="1177550" y="1891797"/>
            <a:ext cx="6775200" cy="21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El presente trabajo práctico consiste en el desarrollo de un </a:t>
            </a:r>
            <a:r>
              <a:rPr lang="es-AR" b="1" dirty="0"/>
              <a:t>Simulador de Monitoreo para un Centro de Cómputos Crítico</a:t>
            </a:r>
            <a:r>
              <a:rPr lang="es-AR" dirty="0"/>
              <a:t>. El sistema tiene como objetivo principal garantizar la </a:t>
            </a:r>
            <a:r>
              <a:rPr lang="es-AR" b="1" dirty="0"/>
              <a:t>continuidad del negocio</a:t>
            </a:r>
            <a:r>
              <a:rPr lang="es-AR" dirty="0"/>
              <a:t> mediante la gestión automatizada de recursos energéticos y ambientales.</a:t>
            </a:r>
          </a:p>
          <a:p>
            <a:pPr marL="0" lvl="0" indent="0" algn="just">
              <a:buNone/>
            </a:pPr>
            <a:r>
              <a:rPr lang="es-AR" dirty="0"/>
              <a:t>Con una interfaz grafica desarrollada en Java supervisamos de forma constante tres pilares fundamentales: </a:t>
            </a:r>
            <a:r>
              <a:rPr lang="en-US" b="1" dirty="0" err="1"/>
              <a:t>Transición</a:t>
            </a:r>
            <a:r>
              <a:rPr lang="en-US" b="1" dirty="0"/>
              <a:t> </a:t>
            </a:r>
            <a:r>
              <a:rPr lang="es-AR" b="1" dirty="0"/>
              <a:t> automática </a:t>
            </a:r>
            <a:r>
              <a:rPr lang="es-AR" dirty="0"/>
              <a:t>de la red eléctrica, </a:t>
            </a:r>
            <a:r>
              <a:rPr lang="es-AR" b="1" dirty="0"/>
              <a:t>Seguridad térmica </a:t>
            </a:r>
            <a:r>
              <a:rPr lang="es-AR" dirty="0"/>
              <a:t>y </a:t>
            </a:r>
            <a:r>
              <a:rPr lang="es-AR" b="1" dirty="0"/>
              <a:t>Trazabilidad de los eventos </a:t>
            </a:r>
            <a:r>
              <a:rPr lang="es-AR" dirty="0"/>
              <a:t>(logs)</a:t>
            </a:r>
            <a:endParaRPr dirty="0"/>
          </a:p>
        </p:txBody>
      </p:sp>
      <p:sp>
        <p:nvSpPr>
          <p:cNvPr id="198" name="Google Shape;198;p33"/>
          <p:cNvSpPr txBox="1">
            <a:spLocks noGrp="1"/>
          </p:cNvSpPr>
          <p:nvPr>
            <p:ph type="title"/>
          </p:nvPr>
        </p:nvSpPr>
        <p:spPr>
          <a:xfrm>
            <a:off x="758180" y="1305388"/>
            <a:ext cx="38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Nuestro trabajo</a:t>
            </a:r>
            <a:endParaRPr dirty="0"/>
          </a:p>
        </p:txBody>
      </p:sp>
      <p:sp>
        <p:nvSpPr>
          <p:cNvPr id="199" name="Google Shape;199;p33"/>
          <p:cNvSpPr/>
          <p:nvPr/>
        </p:nvSpPr>
        <p:spPr>
          <a:xfrm rot="5400000">
            <a:off x="982991" y="2037787"/>
            <a:ext cx="252600" cy="136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D73E22FA-6924-B4E8-C558-683D84E0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>
            <a:extLst>
              <a:ext uri="{FF2B5EF4-FFF2-40B4-BE49-F238E27FC236}">
                <a16:creationId xmlns:a16="http://schemas.microsoft.com/office/drawing/2014/main" id="{A28D1A94-2686-11C4-A805-95AADEAB1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8244" y="877789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AR" b="1" dirty="0"/>
              <a:t>El Lenguaje y el Modelo de Concurrencia</a:t>
            </a:r>
          </a:p>
        </p:txBody>
      </p:sp>
      <p:sp>
        <p:nvSpPr>
          <p:cNvPr id="197" name="Google Shape;197;p33">
            <a:extLst>
              <a:ext uri="{FF2B5EF4-FFF2-40B4-BE49-F238E27FC236}">
                <a16:creationId xmlns:a16="http://schemas.microsoft.com/office/drawing/2014/main" id="{4BE4DE7A-3C09-BDF5-E20A-6E0D5FC0962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77395" y="1807244"/>
            <a:ext cx="6775450" cy="21828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buNone/>
            </a:pPr>
            <a:r>
              <a:rPr lang="es-AR" sz="1600" dirty="0"/>
              <a:t>El proyecto fue desarrollado íntegramente en </a:t>
            </a:r>
            <a:r>
              <a:rPr lang="es-AR" sz="1600" b="1" dirty="0"/>
              <a:t>Java</a:t>
            </a:r>
            <a:r>
              <a:rPr lang="es-AR" sz="1600" dirty="0"/>
              <a:t>, utilizando su API nativa de </a:t>
            </a:r>
            <a:r>
              <a:rPr lang="es-AR" sz="1600" b="1" dirty="0" err="1"/>
              <a:t>Threads</a:t>
            </a:r>
            <a:r>
              <a:rPr lang="es-AR" sz="1600" dirty="0"/>
              <a:t>. El modelo de concurrencia implementado es el de </a:t>
            </a:r>
            <a:r>
              <a:rPr lang="es-AR" sz="1600" b="1" dirty="0"/>
              <a:t>Memoria Compartida Sincronizada</a:t>
            </a:r>
            <a:r>
              <a:rPr lang="es-AR" sz="1600" dirty="0"/>
              <a:t>, basado específicamente en el patrón de </a:t>
            </a:r>
            <a:r>
              <a:rPr lang="es-AR" sz="1600" b="1" dirty="0"/>
              <a:t>Monitores</a:t>
            </a:r>
            <a:r>
              <a:rPr lang="es-AR" sz="1600" dirty="0"/>
              <a:t>.</a:t>
            </a:r>
          </a:p>
          <a:p>
            <a:pPr marL="139700" indent="0" algn="just">
              <a:buNone/>
            </a:pPr>
            <a:r>
              <a:rPr lang="es-AR" sz="1600" b="1" dirty="0"/>
              <a:t>M</a:t>
            </a:r>
            <a:r>
              <a:rPr lang="es-AR" sz="1600" dirty="0"/>
              <a:t>últiples hilos (Servidores, Aires, Clima, Energía) acceden a una misma instancia de datos (el </a:t>
            </a:r>
            <a:r>
              <a:rPr lang="es-AR" sz="1600" dirty="0" err="1"/>
              <a:t>MonitorEnergia</a:t>
            </a:r>
            <a:r>
              <a:rPr lang="es-AR" sz="1600" dirty="0"/>
              <a:t>). Para evitar que estos hilos choquen o corrompan la información, el objeto Monitor actúa como un "árbitro" o guardián</a:t>
            </a:r>
            <a:r>
              <a:rPr lang="es-AR" dirty="0"/>
              <a:t>.</a:t>
            </a:r>
          </a:p>
        </p:txBody>
      </p:sp>
      <p:sp>
        <p:nvSpPr>
          <p:cNvPr id="199" name="Google Shape;199;p33">
            <a:extLst>
              <a:ext uri="{FF2B5EF4-FFF2-40B4-BE49-F238E27FC236}">
                <a16:creationId xmlns:a16="http://schemas.microsoft.com/office/drawing/2014/main" id="{AEF99BB3-7FD3-2BFF-C650-B48C03758187}"/>
              </a:ext>
            </a:extLst>
          </p:cNvPr>
          <p:cNvSpPr/>
          <p:nvPr/>
        </p:nvSpPr>
        <p:spPr>
          <a:xfrm rot="5400000">
            <a:off x="1028147" y="1938409"/>
            <a:ext cx="252600" cy="136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8596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289831D3-D2A2-2074-3852-29AE09E3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>
            <a:extLst>
              <a:ext uri="{FF2B5EF4-FFF2-40B4-BE49-F238E27FC236}">
                <a16:creationId xmlns:a16="http://schemas.microsoft.com/office/drawing/2014/main" id="{320CF00E-7CF0-88F5-8EEF-5F77D1B81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3406" y="1861618"/>
            <a:ext cx="4147694" cy="2168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s-AR" sz="1600" dirty="0"/>
              <a:t>Cada servidor (PROD, NAS, LAB) y cada Aire Acondicionado corre en su propio hilo independiente (</a:t>
            </a:r>
            <a:r>
              <a:rPr lang="es-AR" sz="1600" dirty="0" err="1"/>
              <a:t>Thread</a:t>
            </a:r>
            <a:r>
              <a:rPr lang="es-AR" sz="1600" dirty="0"/>
              <a:t>). En la realidad un servidor no espera a que el otro termine para funcionar. Necesitamos que cada uno tome decisiones autónomas basadas en la energía disponible.</a:t>
            </a:r>
          </a:p>
        </p:txBody>
      </p:sp>
      <p:sp>
        <p:nvSpPr>
          <p:cNvPr id="198" name="Google Shape;198;p33">
            <a:extLst>
              <a:ext uri="{FF2B5EF4-FFF2-40B4-BE49-F238E27FC236}">
                <a16:creationId xmlns:a16="http://schemas.microsoft.com/office/drawing/2014/main" id="{5A709C9E-038E-B3C6-4A12-3571747699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0652" y="654498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AR" b="1" dirty="0" err="1"/>
              <a:t>Conurrencia</a:t>
            </a:r>
            <a:endParaRPr lang="es-AR" b="1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93BEE6F2-7291-BAD7-6AF4-2A3E3E6F738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93406" y="1434122"/>
            <a:ext cx="3321497" cy="261900"/>
          </a:xfrm>
        </p:spPr>
        <p:txBody>
          <a:bodyPr/>
          <a:lstStyle/>
          <a:p>
            <a:r>
              <a:rPr lang="en-US" dirty="0" err="1"/>
              <a:t>Hilos</a:t>
            </a:r>
            <a:r>
              <a:rPr lang="en-US" dirty="0"/>
              <a:t> de </a:t>
            </a:r>
            <a:r>
              <a:rPr lang="en-US" dirty="0" err="1"/>
              <a:t>infraestructura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5329A-E296-75B0-3EF0-23F29D2937E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11818" y="1792111"/>
            <a:ext cx="4019108" cy="2835114"/>
          </a:xfrm>
        </p:spPr>
        <p:txBody>
          <a:bodyPr/>
          <a:lstStyle/>
          <a:p>
            <a:pPr marL="139700" indent="0" algn="just">
              <a:buNone/>
            </a:pPr>
            <a:r>
              <a:rPr lang="es-AR" sz="1600" dirty="0"/>
              <a:t>Un hilo dedicado a calcular la termodinámica (calor generado vs. frío producido), para que la temperatura cambie de forma fluida y constante sin bloquear la interfaz gráfica del usuario.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45E49C5-0B9D-16F5-C407-99FDBFEE44B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611818" y="1434122"/>
            <a:ext cx="2927100" cy="261900"/>
          </a:xfrm>
        </p:spPr>
        <p:txBody>
          <a:bodyPr/>
          <a:lstStyle/>
          <a:p>
            <a:r>
              <a:rPr lang="en-US" dirty="0"/>
              <a:t>Hilo de </a:t>
            </a:r>
            <a:r>
              <a:rPr lang="en-US" dirty="0" err="1"/>
              <a:t>ambiente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029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4FD1F43B-44A6-FA01-59D6-4EE63A68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>
            <a:extLst>
              <a:ext uri="{FF2B5EF4-FFF2-40B4-BE49-F238E27FC236}">
                <a16:creationId xmlns:a16="http://schemas.microsoft.com/office/drawing/2014/main" id="{8E99980D-F7E8-0961-6CA6-19BF01015B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8244" y="654502"/>
            <a:ext cx="5798882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AR" b="1" dirty="0"/>
              <a:t>Sincronización y Bloqueo</a:t>
            </a:r>
          </a:p>
        </p:txBody>
      </p:sp>
      <p:sp>
        <p:nvSpPr>
          <p:cNvPr id="197" name="Google Shape;197;p33">
            <a:extLst>
              <a:ext uri="{FF2B5EF4-FFF2-40B4-BE49-F238E27FC236}">
                <a16:creationId xmlns:a16="http://schemas.microsoft.com/office/drawing/2014/main" id="{7046A9F3-6F6F-C115-A149-35496E1338E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6919" y="1453705"/>
            <a:ext cx="7471182" cy="32219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s-AR" sz="1500" b="1" dirty="0"/>
              <a:t>Métodos </a:t>
            </a:r>
            <a:r>
              <a:rPr lang="es-AR" sz="1500" b="1" dirty="0" err="1"/>
              <a:t>synchronized</a:t>
            </a:r>
            <a:r>
              <a:rPr lang="es-AR" sz="1500" b="1" dirty="0"/>
              <a:t> (Exclusión Mutua)</a:t>
            </a:r>
            <a:r>
              <a:rPr lang="es-AR" sz="1500" dirty="0"/>
              <a:t>:</a:t>
            </a:r>
          </a:p>
          <a:p>
            <a:pPr marL="596900" lvl="1" indent="0">
              <a:buNone/>
            </a:pPr>
            <a:r>
              <a:rPr lang="es-AR" sz="1500" b="1" dirty="0"/>
              <a:t>Ubicación</a:t>
            </a:r>
            <a:r>
              <a:rPr lang="es-AR" sz="1500" dirty="0"/>
              <a:t>: En la clase </a:t>
            </a:r>
            <a:r>
              <a:rPr lang="es-AR" sz="1500" dirty="0" err="1"/>
              <a:t>MonitorEnergia</a:t>
            </a:r>
            <a:r>
              <a:rPr lang="es-AR" sz="1500" dirty="0"/>
              <a:t> (</a:t>
            </a:r>
            <a:r>
              <a:rPr lang="es-AR" sz="1500" dirty="0" err="1"/>
              <a:t>ej</a:t>
            </a:r>
            <a:r>
              <a:rPr lang="es-AR" sz="1500" dirty="0"/>
              <a:t>: </a:t>
            </a:r>
            <a:r>
              <a:rPr lang="es-AR" sz="1500" dirty="0" err="1"/>
              <a:t>usarUps</a:t>
            </a:r>
            <a:r>
              <a:rPr lang="es-AR" sz="1500" dirty="0"/>
              <a:t>(), </a:t>
            </a:r>
            <a:r>
              <a:rPr lang="es-AR" sz="1500" dirty="0" err="1"/>
              <a:t>getFuenteActual</a:t>
            </a:r>
            <a:r>
              <a:rPr lang="es-AR" sz="1500" dirty="0"/>
              <a:t>()).</a:t>
            </a:r>
          </a:p>
          <a:p>
            <a:pPr marL="596900" lvl="1" indent="0" algn="just">
              <a:buNone/>
            </a:pPr>
            <a:r>
              <a:rPr lang="es-AR" sz="1500" b="1" dirty="0"/>
              <a:t>Por qué</a:t>
            </a:r>
            <a:r>
              <a:rPr lang="es-AR" sz="1500" dirty="0"/>
              <a:t>: Cuando un hilo de servidor entra a consultar la fuente de energía, "bloquea" el monitor. Si el hilo de la UPS intenta restar batería en ese mismo instante, Java lo pone en espera. Esto evita </a:t>
            </a:r>
            <a:r>
              <a:rPr lang="es-AR" sz="1500" b="1" dirty="0"/>
              <a:t>Condiciones de Carrera</a:t>
            </a:r>
            <a:r>
              <a:rPr lang="es-AR" sz="1500" dirty="0"/>
              <a:t> (que dos hilos modifiquen la misma variable al mismo tiempo).</a:t>
            </a:r>
          </a:p>
          <a:p>
            <a:pPr marL="596900" lvl="1" indent="0">
              <a:buNone/>
            </a:pPr>
            <a:endParaRPr lang="es-AR" sz="1500" dirty="0"/>
          </a:p>
          <a:p>
            <a:pPr marL="139700" indent="0">
              <a:buNone/>
            </a:pPr>
            <a:r>
              <a:rPr lang="es-AR" sz="1500" b="1" dirty="0"/>
              <a:t>Mecanismo de Señalización (</a:t>
            </a:r>
            <a:r>
              <a:rPr lang="es-AR" sz="1500" b="1" dirty="0" err="1"/>
              <a:t>notifyAll</a:t>
            </a:r>
            <a:r>
              <a:rPr lang="es-AR" sz="1500" b="1" dirty="0"/>
              <a:t>)</a:t>
            </a:r>
            <a:r>
              <a:rPr lang="es-AR" sz="1500" dirty="0"/>
              <a:t>:</a:t>
            </a:r>
          </a:p>
          <a:p>
            <a:pPr marL="596900" lvl="1" indent="0">
              <a:buNone/>
            </a:pPr>
            <a:r>
              <a:rPr lang="es-AR" sz="1500" b="1" dirty="0"/>
              <a:t>Ubicación</a:t>
            </a:r>
            <a:r>
              <a:rPr lang="es-AR" sz="1500" dirty="0"/>
              <a:t>: En métodos como </a:t>
            </a:r>
            <a:r>
              <a:rPr lang="es-AR" sz="1500" dirty="0" err="1"/>
              <a:t>recargarNafta</a:t>
            </a:r>
            <a:r>
              <a:rPr lang="es-AR" sz="1500" dirty="0"/>
              <a:t>() o </a:t>
            </a:r>
            <a:r>
              <a:rPr lang="es-AR" sz="1500" dirty="0" err="1"/>
              <a:t>setRedElectrica</a:t>
            </a:r>
            <a:r>
              <a:rPr lang="es-AR" sz="1500" dirty="0"/>
              <a:t>().</a:t>
            </a:r>
          </a:p>
          <a:p>
            <a:pPr marL="596900" lvl="1" indent="0">
              <a:buNone/>
            </a:pPr>
            <a:r>
              <a:rPr lang="es-AR" sz="1500" b="1" dirty="0"/>
              <a:t>Por qué</a:t>
            </a:r>
            <a:r>
              <a:rPr lang="es-AR" sz="1500" dirty="0"/>
              <a:t>: Los hilos de los servidores suelen estar en espera si no hay energía. Al usar </a:t>
            </a:r>
            <a:r>
              <a:rPr lang="es-AR" sz="1500" dirty="0" err="1"/>
              <a:t>notifyAll</a:t>
            </a:r>
            <a:r>
              <a:rPr lang="es-AR" sz="1500" dirty="0"/>
              <a:t>(), el monitor les "avisa" a todos los hilos que el estado de los recursos cambió, permitiéndoles reaccionar de inmediato.</a:t>
            </a:r>
          </a:p>
          <a:p>
            <a:pPr marL="139700" indent="0" algn="just">
              <a:buNone/>
            </a:pPr>
            <a:endParaRPr lang="es-AR" sz="1500" dirty="0"/>
          </a:p>
        </p:txBody>
      </p:sp>
    </p:spTree>
    <p:extLst>
      <p:ext uri="{BB962C8B-B14F-4D97-AF65-F5344CB8AC3E}">
        <p14:creationId xmlns:p14="http://schemas.microsoft.com/office/powerpoint/2010/main" val="3029690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81080082-E607-9C90-363C-406C6EC1B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4D4EA79E-B983-80FC-9E74-737C6A333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4801" y="766079"/>
            <a:ext cx="7690846" cy="616154"/>
          </a:xfrm>
        </p:spPr>
        <p:txBody>
          <a:bodyPr/>
          <a:lstStyle/>
          <a:p>
            <a:r>
              <a:rPr lang="es-AR" sz="3000" b="1" dirty="0"/>
              <a:t>Interfaz Gráfica </a:t>
            </a:r>
            <a:endParaRPr lang="en-US" sz="3000" dirty="0"/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F055AB94-56C0-C96F-052E-8AF09AD3035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26577" y="2018319"/>
            <a:ext cx="7690846" cy="1596213"/>
          </a:xfrm>
        </p:spPr>
        <p:txBody>
          <a:bodyPr/>
          <a:lstStyle/>
          <a:p>
            <a:pPr marL="139700" indent="0" algn="just">
              <a:buNone/>
            </a:pPr>
            <a:r>
              <a:rPr lang="es-AR" sz="1800" dirty="0"/>
              <a:t>Un punto de concurrencia critico se encuentra en la actualización de los colores (</a:t>
            </a:r>
            <a:r>
              <a:rPr lang="es-AR" sz="1800" dirty="0" err="1"/>
              <a:t>JLabel</a:t>
            </a:r>
            <a:r>
              <a:rPr lang="es-AR" sz="1800" dirty="0"/>
              <a:t>)</a:t>
            </a:r>
          </a:p>
          <a:p>
            <a:pPr marL="139700" indent="0" algn="just">
              <a:buNone/>
            </a:pPr>
            <a:r>
              <a:rPr lang="es-AR" sz="1800" b="1" dirty="0"/>
              <a:t>Mecanismo</a:t>
            </a:r>
            <a:r>
              <a:rPr lang="es-AR" sz="1800" dirty="0"/>
              <a:t>: </a:t>
            </a:r>
            <a:r>
              <a:rPr lang="es-AR" sz="1800" dirty="0" err="1"/>
              <a:t>SwingUtilities.invokeLater</a:t>
            </a:r>
            <a:r>
              <a:rPr lang="es-AR" sz="1800" dirty="0"/>
              <a:t>.</a:t>
            </a:r>
          </a:p>
          <a:p>
            <a:pPr marL="139700" indent="0" algn="just">
              <a:buNone/>
            </a:pPr>
            <a:r>
              <a:rPr lang="es-AR" sz="1800" b="1" dirty="0"/>
              <a:t>Por qué</a:t>
            </a:r>
            <a:r>
              <a:rPr lang="es-AR" sz="1800" dirty="0"/>
              <a:t>: Como Swing no es seguro para multihilo, este método asegura que las actualizaciones visuales se ejecuten en el hilo de despacho de eventos (EDT), evitando que la ventana se tilde o se cierre por errores de concurrencia visual.</a:t>
            </a:r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45857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>
            <a:spLocks noGrp="1"/>
          </p:cNvSpPr>
          <p:nvPr>
            <p:ph type="subTitle" idx="1"/>
          </p:nvPr>
        </p:nvSpPr>
        <p:spPr>
          <a:xfrm>
            <a:off x="1468550" y="2493300"/>
            <a:ext cx="64938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general</a:t>
            </a:r>
            <a:endParaRPr/>
          </a:p>
        </p:txBody>
      </p:sp>
      <p:sp>
        <p:nvSpPr>
          <p:cNvPr id="205" name="Google Shape;205;p34"/>
          <p:cNvSpPr/>
          <p:nvPr/>
        </p:nvSpPr>
        <p:spPr>
          <a:xfrm rot="5400000">
            <a:off x="1060635" y="1802347"/>
            <a:ext cx="507900" cy="274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4"/>
          <p:cNvSpPr txBox="1">
            <a:spLocks noGrp="1"/>
          </p:cNvSpPr>
          <p:nvPr>
            <p:ph type="subTitle" idx="2"/>
          </p:nvPr>
        </p:nvSpPr>
        <p:spPr>
          <a:xfrm>
            <a:off x="1468552" y="3179041"/>
            <a:ext cx="4641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Crear entorno estable y seguro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p34"/>
          <p:cNvSpPr txBox="1">
            <a:spLocks noGrp="1"/>
          </p:cNvSpPr>
          <p:nvPr>
            <p:ph type="title"/>
          </p:nvPr>
        </p:nvSpPr>
        <p:spPr>
          <a:xfrm>
            <a:off x="1468552" y="1226638"/>
            <a:ext cx="2155500" cy="14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>
            <a:spLocks noGrp="1"/>
          </p:cNvSpPr>
          <p:nvPr>
            <p:ph type="title"/>
          </p:nvPr>
        </p:nvSpPr>
        <p:spPr>
          <a:xfrm>
            <a:off x="651150" y="545225"/>
            <a:ext cx="7330094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Objetivo : Ambiente estable y controlado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B9390F-465E-E8E9-5375-60487A7A57F5}"/>
              </a:ext>
            </a:extLst>
          </p:cNvPr>
          <p:cNvSpPr txBox="1"/>
          <p:nvPr/>
        </p:nvSpPr>
        <p:spPr>
          <a:xfrm>
            <a:off x="1474117" y="1645008"/>
            <a:ext cx="682990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Font typeface="Exo 2"/>
              <a:buNone/>
              <a:tabLst/>
              <a:defRPr/>
            </a:pPr>
            <a:r>
              <a:rPr kumimoji="0" lang="es-AR" sz="2000" b="0" i="0" u="none" strike="noStrike" kern="0" cap="none" spc="0" normalizeH="0" baseline="0" noProof="0" dirty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Exo 2"/>
                <a:ea typeface="Exo 2"/>
                <a:sym typeface="Exo 2"/>
              </a:rPr>
              <a:t>Diseñar e implementar un sistema de monitoreo (</a:t>
            </a:r>
            <a:r>
              <a:rPr kumimoji="0" lang="es-A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Exo 2"/>
                <a:ea typeface="Exo 2"/>
                <a:sym typeface="Exo 2"/>
              </a:rPr>
              <a:t>dashboard</a:t>
            </a:r>
            <a:r>
              <a:rPr kumimoji="0" lang="es-AR" sz="2000" b="0" i="0" u="none" strike="noStrike" kern="0" cap="none" spc="0" normalizeH="0" baseline="0" noProof="0" dirty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Exo 2"/>
                <a:ea typeface="Exo 2"/>
                <a:sym typeface="Exo 2"/>
              </a:rPr>
              <a:t>) para un Centro de Datos, utilizando los mecanismos de programación concurrente en Java para gestionar y monitorizar de forma autónoma la redundancia energética, la seguridad térmica y la alta disponibilidad de servicios críticos ante escenarios de falla.</a:t>
            </a:r>
          </a:p>
        </p:txBody>
      </p:sp>
      <p:sp>
        <p:nvSpPr>
          <p:cNvPr id="10" name="Google Shape;199;p33">
            <a:extLst>
              <a:ext uri="{FF2B5EF4-FFF2-40B4-BE49-F238E27FC236}">
                <a16:creationId xmlns:a16="http://schemas.microsoft.com/office/drawing/2014/main" id="{9A414326-C4DC-E0C4-CB3F-D8103535BB45}"/>
              </a:ext>
            </a:extLst>
          </p:cNvPr>
          <p:cNvSpPr/>
          <p:nvPr/>
        </p:nvSpPr>
        <p:spPr>
          <a:xfrm rot="5400000">
            <a:off x="1248808" y="1814499"/>
            <a:ext cx="252600" cy="136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>
            <a:spLocks noGrp="1"/>
          </p:cNvSpPr>
          <p:nvPr>
            <p:ph type="subTitle" idx="1"/>
          </p:nvPr>
        </p:nvSpPr>
        <p:spPr>
          <a:xfrm>
            <a:off x="1468550" y="2493300"/>
            <a:ext cx="64938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Infraestructura</a:t>
            </a:r>
            <a:endParaRPr/>
          </a:p>
        </p:txBody>
      </p:sp>
      <p:sp>
        <p:nvSpPr>
          <p:cNvPr id="235" name="Google Shape;235;p36"/>
          <p:cNvSpPr/>
          <p:nvPr/>
        </p:nvSpPr>
        <p:spPr>
          <a:xfrm rot="5400000">
            <a:off x="1060635" y="1802347"/>
            <a:ext cx="507900" cy="274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6"/>
          <p:cNvSpPr txBox="1">
            <a:spLocks noGrp="1"/>
          </p:cNvSpPr>
          <p:nvPr>
            <p:ph type="subTitle" idx="2"/>
          </p:nvPr>
        </p:nvSpPr>
        <p:spPr>
          <a:xfrm>
            <a:off x="1468552" y="3179041"/>
            <a:ext cx="4641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Servidores</a:t>
            </a:r>
            <a:r>
              <a:rPr lang="en-US" sz="1400" dirty="0"/>
              <a:t> y </a:t>
            </a:r>
            <a:r>
              <a:rPr lang="en-US" sz="1400" dirty="0" err="1"/>
              <a:t>elementos</a:t>
            </a:r>
            <a:r>
              <a:rPr lang="en-US" sz="1400" dirty="0"/>
              <a:t> </a:t>
            </a:r>
            <a:r>
              <a:rPr lang="en-US" sz="1400" dirty="0" err="1"/>
              <a:t>principales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la sala.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7" name="Google Shape;237;p36"/>
          <p:cNvSpPr txBox="1">
            <a:spLocks noGrp="1"/>
          </p:cNvSpPr>
          <p:nvPr>
            <p:ph type="title"/>
          </p:nvPr>
        </p:nvSpPr>
        <p:spPr>
          <a:xfrm>
            <a:off x="1468552" y="1226638"/>
            <a:ext cx="2155500" cy="14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>
            <a:spLocks noGrp="1"/>
          </p:cNvSpPr>
          <p:nvPr>
            <p:ph type="title"/>
          </p:nvPr>
        </p:nvSpPr>
        <p:spPr>
          <a:xfrm>
            <a:off x="316335" y="443986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Equipos instalados en la sala</a:t>
            </a:r>
            <a:endParaRPr dirty="0"/>
          </a:p>
        </p:txBody>
      </p:sp>
      <p:sp>
        <p:nvSpPr>
          <p:cNvPr id="243" name="Google Shape;243;p37"/>
          <p:cNvSpPr txBox="1">
            <a:spLocks noGrp="1"/>
          </p:cNvSpPr>
          <p:nvPr>
            <p:ph type="subTitle" idx="4294967295"/>
          </p:nvPr>
        </p:nvSpPr>
        <p:spPr>
          <a:xfrm>
            <a:off x="1188204" y="1046544"/>
            <a:ext cx="4089900" cy="2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sz="2200" dirty="0" err="1">
                <a:solidFill>
                  <a:schemeClr val="accent1"/>
                </a:solidFill>
              </a:rPr>
              <a:t>Servidores</a:t>
            </a:r>
            <a:r>
              <a:rPr lang="en-US" sz="22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244" name="Google Shape;244;p37"/>
          <p:cNvSpPr txBox="1">
            <a:spLocks noGrp="1"/>
          </p:cNvSpPr>
          <p:nvPr>
            <p:ph type="subTitle" idx="4294967295"/>
          </p:nvPr>
        </p:nvSpPr>
        <p:spPr>
          <a:xfrm>
            <a:off x="1286539" y="1401276"/>
            <a:ext cx="6730409" cy="1040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accent3"/>
                </a:solidFill>
              </a:rPr>
              <a:t>PROD : ambientes </a:t>
            </a:r>
            <a:r>
              <a:rPr lang="en-US" dirty="0" err="1">
                <a:solidFill>
                  <a:schemeClr val="accent3"/>
                </a:solidFill>
              </a:rPr>
              <a:t>productivos</a:t>
            </a:r>
            <a:r>
              <a:rPr lang="en-US" dirty="0">
                <a:solidFill>
                  <a:schemeClr val="accent3"/>
                </a:solidFill>
              </a:rPr>
              <a:t>, </a:t>
            </a:r>
            <a:r>
              <a:rPr lang="en-US" dirty="0" err="1">
                <a:solidFill>
                  <a:schemeClr val="accent3"/>
                </a:solidFill>
              </a:rPr>
              <a:t>en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 err="1">
                <a:solidFill>
                  <a:schemeClr val="accent3"/>
                </a:solidFill>
              </a:rPr>
              <a:t>el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 err="1">
                <a:solidFill>
                  <a:schemeClr val="accent3"/>
                </a:solidFill>
              </a:rPr>
              <a:t>mismo</a:t>
            </a:r>
            <a:r>
              <a:rPr lang="en-US" dirty="0">
                <a:solidFill>
                  <a:schemeClr val="accent3"/>
                </a:solidFill>
              </a:rPr>
              <a:t> rack modem, router, switch y firewalls </a:t>
            </a:r>
            <a:r>
              <a:rPr lang="en-US" dirty="0" err="1">
                <a:solidFill>
                  <a:schemeClr val="accent3"/>
                </a:solidFill>
              </a:rPr>
              <a:t>ya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 err="1">
                <a:solidFill>
                  <a:schemeClr val="accent3"/>
                </a:solidFill>
              </a:rPr>
              <a:t>configurados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accent3"/>
                </a:solidFill>
              </a:rPr>
              <a:t>LAB : </a:t>
            </a:r>
            <a:r>
              <a:rPr lang="en-US" dirty="0" err="1">
                <a:solidFill>
                  <a:schemeClr val="accent3"/>
                </a:solidFill>
              </a:rPr>
              <a:t>destinado</a:t>
            </a:r>
            <a:r>
              <a:rPr lang="en-US" dirty="0">
                <a:solidFill>
                  <a:schemeClr val="accent3"/>
                </a:solidFill>
              </a:rPr>
              <a:t> a ambientes testing y </a:t>
            </a:r>
            <a:r>
              <a:rPr lang="en-US" dirty="0" err="1">
                <a:solidFill>
                  <a:schemeClr val="accent3"/>
                </a:solidFill>
              </a:rPr>
              <a:t>similares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accent3"/>
                </a:solidFill>
              </a:rPr>
              <a:t>NAS : </a:t>
            </a:r>
            <a:r>
              <a:rPr lang="en-US" dirty="0" err="1">
                <a:solidFill>
                  <a:schemeClr val="accent3"/>
                </a:solidFill>
              </a:rPr>
              <a:t>almacenamiento</a:t>
            </a:r>
            <a:r>
              <a:rPr lang="en-US" dirty="0">
                <a:solidFill>
                  <a:schemeClr val="accent3"/>
                </a:solidFill>
              </a:rPr>
              <a:t> de </a:t>
            </a:r>
            <a:r>
              <a:rPr lang="en-US" dirty="0" err="1">
                <a:solidFill>
                  <a:schemeClr val="accent3"/>
                </a:solidFill>
              </a:rPr>
              <a:t>recursos</a:t>
            </a:r>
            <a:r>
              <a:rPr lang="en-US" dirty="0">
                <a:solidFill>
                  <a:schemeClr val="accent3"/>
                </a:solidFill>
              </a:rPr>
              <a:t> para ambientes no </a:t>
            </a:r>
            <a:r>
              <a:rPr lang="en-US" dirty="0" err="1">
                <a:solidFill>
                  <a:schemeClr val="accent3"/>
                </a:solidFill>
              </a:rPr>
              <a:t>productivos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2" name="Google Shape;243;p37">
            <a:extLst>
              <a:ext uri="{FF2B5EF4-FFF2-40B4-BE49-F238E27FC236}">
                <a16:creationId xmlns:a16="http://schemas.microsoft.com/office/drawing/2014/main" id="{66D245C4-48D5-E822-5B26-31C3878E0DD3}"/>
              </a:ext>
            </a:extLst>
          </p:cNvPr>
          <p:cNvSpPr txBox="1">
            <a:spLocks/>
          </p:cNvSpPr>
          <p:nvPr/>
        </p:nvSpPr>
        <p:spPr>
          <a:xfrm>
            <a:off x="1188204" y="3690430"/>
            <a:ext cx="40899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●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○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■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●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○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■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●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○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■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pPr marL="0" indent="0">
              <a:buFont typeface="Exo 2"/>
              <a:buNone/>
            </a:pPr>
            <a:r>
              <a:rPr lang="en-US" sz="2200" dirty="0">
                <a:solidFill>
                  <a:schemeClr val="accent1"/>
                </a:solidFill>
              </a:rPr>
              <a:t>Aires </a:t>
            </a:r>
            <a:r>
              <a:rPr lang="en-US" sz="2200" dirty="0" err="1">
                <a:solidFill>
                  <a:schemeClr val="accent1"/>
                </a:solidFill>
              </a:rPr>
              <a:t>acondicionados</a:t>
            </a:r>
            <a:r>
              <a:rPr lang="en-US" sz="22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3" name="Google Shape;243;p37">
            <a:extLst>
              <a:ext uri="{FF2B5EF4-FFF2-40B4-BE49-F238E27FC236}">
                <a16:creationId xmlns:a16="http://schemas.microsoft.com/office/drawing/2014/main" id="{4CEA77D8-34AE-EBF2-237D-BBD638984BBA}"/>
              </a:ext>
            </a:extLst>
          </p:cNvPr>
          <p:cNvSpPr txBox="1">
            <a:spLocks/>
          </p:cNvSpPr>
          <p:nvPr/>
        </p:nvSpPr>
        <p:spPr>
          <a:xfrm>
            <a:off x="1188204" y="2571750"/>
            <a:ext cx="40899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●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○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■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●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○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■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●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○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xo 2"/>
              <a:buChar char="■"/>
              <a:defRPr sz="1400" b="0" i="0" u="none" strike="noStrike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pPr marL="0" indent="0">
              <a:buFont typeface="Exo 2"/>
              <a:buNone/>
            </a:pPr>
            <a:r>
              <a:rPr lang="en-US" sz="2200" dirty="0">
                <a:solidFill>
                  <a:schemeClr val="accent1"/>
                </a:solidFill>
              </a:rPr>
              <a:t>Energia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11657-F165-29C3-4E62-B22D41B5DFA4}"/>
              </a:ext>
            </a:extLst>
          </p:cNvPr>
          <p:cNvSpPr txBox="1"/>
          <p:nvPr/>
        </p:nvSpPr>
        <p:spPr>
          <a:xfrm>
            <a:off x="1286539" y="294223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accent3"/>
                </a:solidFill>
              </a:rPr>
              <a:t>UPS :  </a:t>
            </a:r>
            <a:r>
              <a:rPr lang="en-US" dirty="0" err="1">
                <a:solidFill>
                  <a:schemeClr val="accent3"/>
                </a:solidFill>
              </a:rPr>
              <a:t>duración</a:t>
            </a:r>
            <a:r>
              <a:rPr lang="en-US" dirty="0">
                <a:solidFill>
                  <a:schemeClr val="accent3"/>
                </a:solidFill>
              </a:rPr>
              <a:t> 3 horas (100%)</a:t>
            </a:r>
          </a:p>
          <a:p>
            <a:pPr marL="0" lvl="0" indent="0">
              <a:buNone/>
            </a:pPr>
            <a:r>
              <a:rPr lang="en-US" dirty="0" err="1">
                <a:solidFill>
                  <a:schemeClr val="accent3"/>
                </a:solidFill>
              </a:rPr>
              <a:t>Generador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 err="1">
                <a:solidFill>
                  <a:schemeClr val="accent3"/>
                </a:solidFill>
              </a:rPr>
              <a:t>elecrtico</a:t>
            </a:r>
            <a:r>
              <a:rPr lang="en-US" dirty="0">
                <a:solidFill>
                  <a:schemeClr val="accent3"/>
                </a:solidFill>
              </a:rPr>
              <a:t> : </a:t>
            </a:r>
            <a:r>
              <a:rPr lang="en-US" dirty="0" err="1">
                <a:solidFill>
                  <a:schemeClr val="accent3"/>
                </a:solidFill>
              </a:rPr>
              <a:t>duración</a:t>
            </a:r>
            <a:r>
              <a:rPr lang="en-US" dirty="0">
                <a:solidFill>
                  <a:schemeClr val="accent3"/>
                </a:solidFill>
              </a:rPr>
              <a:t> 24 horas (100%)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14E6C-E98B-59AC-28BE-7C1BEFFF8C9D}"/>
              </a:ext>
            </a:extLst>
          </p:cNvPr>
          <p:cNvSpPr txBox="1"/>
          <p:nvPr/>
        </p:nvSpPr>
        <p:spPr>
          <a:xfrm>
            <a:off x="1286538" y="4096956"/>
            <a:ext cx="6517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accent3"/>
                </a:solidFill>
              </a:rPr>
              <a:t>Dos </a:t>
            </a:r>
            <a:r>
              <a:rPr lang="en-US" dirty="0" err="1">
                <a:solidFill>
                  <a:schemeClr val="accent3"/>
                </a:solidFill>
              </a:rPr>
              <a:t>unidades</a:t>
            </a:r>
            <a:r>
              <a:rPr lang="en-US" dirty="0">
                <a:solidFill>
                  <a:schemeClr val="accent3"/>
                </a:solidFill>
              </a:rPr>
              <a:t>, </a:t>
            </a:r>
            <a:r>
              <a:rPr lang="en-US" dirty="0" err="1">
                <a:solidFill>
                  <a:schemeClr val="accent3"/>
                </a:solidFill>
              </a:rPr>
              <a:t>una</a:t>
            </a:r>
            <a:r>
              <a:rPr lang="en-US" dirty="0">
                <a:solidFill>
                  <a:schemeClr val="accent3"/>
                </a:solidFill>
              </a:rPr>
              <a:t> sola </a:t>
            </a:r>
            <a:r>
              <a:rPr lang="en-US" dirty="0" err="1">
                <a:solidFill>
                  <a:schemeClr val="accent3"/>
                </a:solidFill>
              </a:rPr>
              <a:t>unidad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 err="1">
                <a:solidFill>
                  <a:schemeClr val="accent3"/>
                </a:solidFill>
              </a:rPr>
              <a:t>conectada</a:t>
            </a:r>
            <a:r>
              <a:rPr lang="en-US" dirty="0">
                <a:solidFill>
                  <a:schemeClr val="accent3"/>
                </a:solidFill>
              </a:rPr>
              <a:t> a la </a:t>
            </a:r>
            <a:r>
              <a:rPr lang="en-US" dirty="0" err="1">
                <a:solidFill>
                  <a:schemeClr val="accent3"/>
                </a:solidFill>
              </a:rPr>
              <a:t>línea</a:t>
            </a:r>
            <a:r>
              <a:rPr lang="en-US" dirty="0">
                <a:solidFill>
                  <a:schemeClr val="accent3"/>
                </a:solidFill>
              </a:rPr>
              <a:t> del </a:t>
            </a:r>
            <a:r>
              <a:rPr lang="en-US" dirty="0" err="1">
                <a:solidFill>
                  <a:schemeClr val="accent3"/>
                </a:solidFill>
              </a:rPr>
              <a:t>generador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 err="1">
                <a:solidFill>
                  <a:schemeClr val="accent3"/>
                </a:solidFill>
              </a:rPr>
              <a:t>eléctrico</a:t>
            </a:r>
            <a:endParaRPr 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>
            <a:spLocks noGrp="1"/>
          </p:cNvSpPr>
          <p:nvPr>
            <p:ph type="subTitle" idx="1"/>
          </p:nvPr>
        </p:nvSpPr>
        <p:spPr>
          <a:xfrm>
            <a:off x="1468550" y="2450768"/>
            <a:ext cx="64938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Comportamiento de infraestructura</a:t>
            </a:r>
            <a:endParaRPr dirty="0"/>
          </a:p>
        </p:txBody>
      </p:sp>
      <p:sp>
        <p:nvSpPr>
          <p:cNvPr id="263" name="Google Shape;263;p40"/>
          <p:cNvSpPr/>
          <p:nvPr/>
        </p:nvSpPr>
        <p:spPr>
          <a:xfrm rot="5400000">
            <a:off x="1060635" y="1430206"/>
            <a:ext cx="507900" cy="274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0"/>
          <p:cNvSpPr txBox="1">
            <a:spLocks noGrp="1"/>
          </p:cNvSpPr>
          <p:nvPr>
            <p:ph type="subTitle" idx="2"/>
          </p:nvPr>
        </p:nvSpPr>
        <p:spPr>
          <a:xfrm>
            <a:off x="1468552" y="3423593"/>
            <a:ext cx="4641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Funcionabilidades</a:t>
            </a:r>
            <a:r>
              <a:rPr lang="en-US" sz="1400" dirty="0"/>
              <a:t> y </a:t>
            </a:r>
            <a:r>
              <a:rPr lang="en-US" sz="1400" dirty="0" err="1"/>
              <a:t>visualizacion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5" name="Google Shape;265;p40"/>
          <p:cNvSpPr txBox="1">
            <a:spLocks noGrp="1"/>
          </p:cNvSpPr>
          <p:nvPr>
            <p:ph type="title"/>
          </p:nvPr>
        </p:nvSpPr>
        <p:spPr>
          <a:xfrm>
            <a:off x="1468552" y="854497"/>
            <a:ext cx="2155500" cy="14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Corte de suministro eléctrico</a:t>
            </a:r>
            <a:endParaRPr dirty="0"/>
          </a:p>
        </p:txBody>
      </p:sp>
      <p:sp>
        <p:nvSpPr>
          <p:cNvPr id="305" name="Google Shape;305;p45"/>
          <p:cNvSpPr txBox="1">
            <a:spLocks noGrp="1"/>
          </p:cNvSpPr>
          <p:nvPr>
            <p:ph type="subTitle" idx="4294967295"/>
          </p:nvPr>
        </p:nvSpPr>
        <p:spPr>
          <a:xfrm>
            <a:off x="915443" y="1408474"/>
            <a:ext cx="7069608" cy="29733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accent3"/>
                </a:solidFill>
              </a:rPr>
              <a:t>Pasa a </a:t>
            </a:r>
            <a:r>
              <a:rPr lang="en-US" sz="1700" dirty="0" err="1">
                <a:solidFill>
                  <a:schemeClr val="accent3"/>
                </a:solidFill>
              </a:rPr>
              <a:t>cambiarse</a:t>
            </a:r>
            <a:r>
              <a:rPr lang="en-US" sz="1700" dirty="0">
                <a:solidFill>
                  <a:schemeClr val="accent3"/>
                </a:solidFill>
              </a:rPr>
              <a:t> a la </a:t>
            </a:r>
            <a:r>
              <a:rPr lang="en-US" sz="1700" dirty="0" err="1">
                <a:solidFill>
                  <a:schemeClr val="accent3"/>
                </a:solidFill>
              </a:rPr>
              <a:t>linea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conectada</a:t>
            </a:r>
            <a:r>
              <a:rPr lang="en-US" sz="1700" dirty="0">
                <a:solidFill>
                  <a:schemeClr val="accent3"/>
                </a:solidFill>
              </a:rPr>
              <a:t> al </a:t>
            </a:r>
            <a:r>
              <a:rPr lang="en-US" sz="1700" dirty="0" err="1">
                <a:solidFill>
                  <a:schemeClr val="accent3"/>
                </a:solidFill>
              </a:rPr>
              <a:t>generador</a:t>
            </a:r>
            <a:r>
              <a:rPr lang="en-US" sz="1700" dirty="0">
                <a:solidFill>
                  <a:schemeClr val="accent3"/>
                </a:solidFill>
              </a:rPr>
              <a:t>, </a:t>
            </a:r>
            <a:r>
              <a:rPr lang="en-US" sz="1700" dirty="0" err="1">
                <a:solidFill>
                  <a:schemeClr val="accent3"/>
                </a:solidFill>
              </a:rPr>
              <a:t>apagandose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el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aire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acondicionado</a:t>
            </a:r>
            <a:r>
              <a:rPr lang="en-US" sz="1700" dirty="0">
                <a:solidFill>
                  <a:schemeClr val="accent3"/>
                </a:solidFill>
              </a:rPr>
              <a:t> 2, </a:t>
            </a:r>
            <a:r>
              <a:rPr lang="en-US" sz="1700" dirty="0" err="1">
                <a:solidFill>
                  <a:schemeClr val="accent3"/>
                </a:solidFill>
              </a:rPr>
              <a:t>quedando</a:t>
            </a:r>
            <a:r>
              <a:rPr lang="en-US" sz="1700" dirty="0">
                <a:solidFill>
                  <a:schemeClr val="accent3"/>
                </a:solidFill>
              </a:rPr>
              <a:t> up un </a:t>
            </a:r>
            <a:r>
              <a:rPr lang="en-US" sz="1700" dirty="0" err="1">
                <a:solidFill>
                  <a:schemeClr val="accent3"/>
                </a:solidFill>
              </a:rPr>
              <a:t>aire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acondicionado</a:t>
            </a:r>
            <a:r>
              <a:rPr lang="en-US" sz="1700" dirty="0">
                <a:solidFill>
                  <a:schemeClr val="accent3"/>
                </a:solidFill>
              </a:rPr>
              <a:t>, PROD, LAB y NAS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solidFill>
                  <a:schemeClr val="accent3"/>
                </a:solidFill>
              </a:rPr>
              <a:t>Cuado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el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generador</a:t>
            </a:r>
            <a:r>
              <a:rPr lang="en-US" sz="1700" dirty="0">
                <a:solidFill>
                  <a:schemeClr val="accent3"/>
                </a:solidFill>
              </a:rPr>
              <a:t> de </a:t>
            </a:r>
            <a:r>
              <a:rPr lang="en-US" sz="1700" dirty="0" err="1">
                <a:solidFill>
                  <a:schemeClr val="accent3"/>
                </a:solidFill>
              </a:rPr>
              <a:t>agota</a:t>
            </a:r>
            <a:r>
              <a:rPr lang="en-US" sz="1700" dirty="0">
                <a:solidFill>
                  <a:schemeClr val="accent3"/>
                </a:solidFill>
              </a:rPr>
              <a:t> (24hs), </a:t>
            </a:r>
            <a:r>
              <a:rPr lang="en-US" sz="1700" dirty="0" err="1">
                <a:solidFill>
                  <a:schemeClr val="accent3"/>
                </a:solidFill>
              </a:rPr>
              <a:t>pasa</a:t>
            </a:r>
            <a:r>
              <a:rPr lang="en-US" sz="1700" dirty="0">
                <a:solidFill>
                  <a:schemeClr val="accent3"/>
                </a:solidFill>
              </a:rPr>
              <a:t> a </a:t>
            </a:r>
            <a:r>
              <a:rPr lang="en-US" sz="1700" dirty="0" err="1">
                <a:solidFill>
                  <a:schemeClr val="accent3"/>
                </a:solidFill>
              </a:rPr>
              <a:t>usarse</a:t>
            </a:r>
            <a:r>
              <a:rPr lang="en-US" sz="1700" dirty="0">
                <a:solidFill>
                  <a:schemeClr val="accent3"/>
                </a:solidFill>
              </a:rPr>
              <a:t> la </a:t>
            </a:r>
            <a:r>
              <a:rPr lang="en-US" sz="1700" dirty="0" err="1">
                <a:solidFill>
                  <a:schemeClr val="accent3"/>
                </a:solidFill>
              </a:rPr>
              <a:t>linea</a:t>
            </a:r>
            <a:r>
              <a:rPr lang="en-US" sz="1700" dirty="0">
                <a:solidFill>
                  <a:schemeClr val="accent3"/>
                </a:solidFill>
              </a:rPr>
              <a:t> de la UPS, se </a:t>
            </a:r>
            <a:r>
              <a:rPr lang="en-US" sz="1700" dirty="0" err="1">
                <a:solidFill>
                  <a:schemeClr val="accent3"/>
                </a:solidFill>
              </a:rPr>
              <a:t>apaga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el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unico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aire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acondicionado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que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esta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encendido</a:t>
            </a:r>
            <a:r>
              <a:rPr lang="en-US" sz="1700" dirty="0">
                <a:solidFill>
                  <a:schemeClr val="accent3"/>
                </a:solidFill>
              </a:rPr>
              <a:t>, para </a:t>
            </a:r>
            <a:r>
              <a:rPr lang="en-US" sz="1700" dirty="0" err="1">
                <a:solidFill>
                  <a:schemeClr val="accent3"/>
                </a:solidFill>
              </a:rPr>
              <a:t>mantener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unicamente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el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servidor</a:t>
            </a:r>
            <a:r>
              <a:rPr lang="en-US" sz="1700" dirty="0">
                <a:solidFill>
                  <a:schemeClr val="accent3"/>
                </a:solidFill>
              </a:rPr>
              <a:t> PROD </a:t>
            </a:r>
            <a:r>
              <a:rPr lang="en-US" sz="1700" dirty="0" err="1">
                <a:solidFill>
                  <a:schemeClr val="accent3"/>
                </a:solidFill>
              </a:rPr>
              <a:t>por</a:t>
            </a:r>
            <a:r>
              <a:rPr lang="en-US" sz="1700" dirty="0">
                <a:solidFill>
                  <a:schemeClr val="accent3"/>
                </a:solidFill>
              </a:rPr>
              <a:t> 2hs mas.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accent3"/>
                </a:solidFill>
              </a:rPr>
              <a:t>Cuando se </a:t>
            </a:r>
            <a:r>
              <a:rPr lang="en-US" sz="1700" dirty="0" err="1">
                <a:solidFill>
                  <a:schemeClr val="accent3"/>
                </a:solidFill>
              </a:rPr>
              <a:t>agotan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estas</a:t>
            </a:r>
            <a:r>
              <a:rPr lang="en-US" sz="1700" dirty="0">
                <a:solidFill>
                  <a:schemeClr val="accent3"/>
                </a:solidFill>
              </a:rPr>
              <a:t> dos </a:t>
            </a:r>
            <a:r>
              <a:rPr lang="en-US" sz="1700" dirty="0" err="1">
                <a:solidFill>
                  <a:schemeClr val="accent3"/>
                </a:solidFill>
              </a:rPr>
              <a:t>lineas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adicionales</a:t>
            </a:r>
            <a:r>
              <a:rPr lang="en-US" sz="1700" dirty="0">
                <a:solidFill>
                  <a:schemeClr val="accent3"/>
                </a:solidFill>
              </a:rPr>
              <a:t> se produce </a:t>
            </a:r>
            <a:r>
              <a:rPr lang="en-US" sz="1700" dirty="0" err="1">
                <a:solidFill>
                  <a:schemeClr val="accent3"/>
                </a:solidFill>
              </a:rPr>
              <a:t>una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b="1" dirty="0" err="1">
                <a:solidFill>
                  <a:schemeClr val="accent3"/>
                </a:solidFill>
              </a:rPr>
              <a:t>caida</a:t>
            </a:r>
            <a:r>
              <a:rPr lang="en-US" sz="1700" dirty="0">
                <a:solidFill>
                  <a:schemeClr val="accent3"/>
                </a:solidFill>
              </a:rPr>
              <a:t> total del Sistema, se </a:t>
            </a:r>
            <a:r>
              <a:rPr lang="en-US" sz="1700" dirty="0" err="1">
                <a:solidFill>
                  <a:schemeClr val="accent3"/>
                </a:solidFill>
              </a:rPr>
              <a:t>dispara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switcheo</a:t>
            </a:r>
            <a:r>
              <a:rPr lang="en-US" sz="1700" dirty="0">
                <a:solidFill>
                  <a:schemeClr val="accent3"/>
                </a:solidFill>
              </a:rPr>
              <a:t> de </a:t>
            </a:r>
            <a:r>
              <a:rPr lang="en-US" sz="1700" dirty="0" err="1">
                <a:solidFill>
                  <a:schemeClr val="accent3"/>
                </a:solidFill>
              </a:rPr>
              <a:t>ambiente</a:t>
            </a:r>
            <a:r>
              <a:rPr lang="en-US" sz="1700" dirty="0">
                <a:solidFill>
                  <a:schemeClr val="accent3"/>
                </a:solidFill>
              </a:rPr>
              <a:t> “CABA”.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accent3"/>
                </a:solidFill>
              </a:rPr>
              <a:t>Cuando </a:t>
            </a:r>
            <a:r>
              <a:rPr lang="en-US" sz="1700" dirty="0" err="1">
                <a:solidFill>
                  <a:schemeClr val="accent3"/>
                </a:solidFill>
              </a:rPr>
              <a:t>el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suministro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electrico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vuelve</a:t>
            </a:r>
            <a:r>
              <a:rPr lang="en-US" sz="1700" dirty="0">
                <a:solidFill>
                  <a:schemeClr val="accent3"/>
                </a:solidFill>
              </a:rPr>
              <a:t>, la UPS </a:t>
            </a:r>
            <a:r>
              <a:rPr lang="en-US" sz="1700" dirty="0" err="1">
                <a:solidFill>
                  <a:schemeClr val="accent3"/>
                </a:solidFill>
              </a:rPr>
              <a:t>empieza</a:t>
            </a:r>
            <a:r>
              <a:rPr lang="en-US" sz="1700" dirty="0">
                <a:solidFill>
                  <a:schemeClr val="accent3"/>
                </a:solidFill>
              </a:rPr>
              <a:t> a </a:t>
            </a:r>
            <a:r>
              <a:rPr lang="en-US" sz="1700" dirty="0" err="1">
                <a:solidFill>
                  <a:schemeClr val="accent3"/>
                </a:solidFill>
              </a:rPr>
              <a:t>cargar</a:t>
            </a:r>
            <a:r>
              <a:rPr lang="en-US" sz="1700" dirty="0">
                <a:solidFill>
                  <a:schemeClr val="accent3"/>
                </a:solidFill>
              </a:rPr>
              <a:t> y se </a:t>
            </a:r>
            <a:r>
              <a:rPr lang="en-US" sz="1700" dirty="0" err="1">
                <a:solidFill>
                  <a:schemeClr val="accent3"/>
                </a:solidFill>
              </a:rPr>
              <a:t>encienden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todos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los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servicios</a:t>
            </a:r>
            <a:r>
              <a:rPr lang="en-US" sz="1700" dirty="0">
                <a:solidFill>
                  <a:schemeClr val="accent3"/>
                </a:solidFill>
              </a:rPr>
              <a:t>. (Aires </a:t>
            </a:r>
            <a:r>
              <a:rPr lang="en-US" sz="1700" dirty="0" err="1">
                <a:solidFill>
                  <a:schemeClr val="accent3"/>
                </a:solidFill>
              </a:rPr>
              <a:t>acondicionados</a:t>
            </a:r>
            <a:r>
              <a:rPr lang="en-US" sz="1700" dirty="0">
                <a:solidFill>
                  <a:schemeClr val="accent3"/>
                </a:solidFill>
              </a:rPr>
              <a:t>, PROD NAS LAB)</a:t>
            </a:r>
            <a:endParaRPr sz="17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Redundancia electrica</a:t>
            </a:r>
            <a:endParaRPr dirty="0"/>
          </a:p>
        </p:txBody>
      </p:sp>
      <p:sp>
        <p:nvSpPr>
          <p:cNvPr id="257" name="Google Shape;257;p39"/>
          <p:cNvSpPr txBox="1">
            <a:spLocks noGrp="1"/>
          </p:cNvSpPr>
          <p:nvPr>
            <p:ph type="subTitle" idx="4294967295"/>
          </p:nvPr>
        </p:nvSpPr>
        <p:spPr>
          <a:xfrm>
            <a:off x="1226463" y="1254448"/>
            <a:ext cx="6375816" cy="22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buNone/>
            </a:pPr>
            <a:r>
              <a:rPr lang="es-AR" sz="1500" dirty="0"/>
              <a:t>Aquí se encuentran dos líneas de suministro eléctrico adicional para garantizar la disponibilidad de los distintos servicios.</a:t>
            </a:r>
            <a:br>
              <a:rPr lang="es-AR" sz="1500" dirty="0"/>
            </a:br>
            <a:endParaRPr lang="es-AR" sz="1500" dirty="0"/>
          </a:p>
          <a:p>
            <a:pPr marL="139700" indent="0" algn="just">
              <a:buNone/>
            </a:pPr>
            <a:r>
              <a:rPr lang="es-AR" sz="1500" b="1" dirty="0"/>
              <a:t>El generador </a:t>
            </a:r>
            <a:r>
              <a:rPr lang="es-AR" sz="1500" dirty="0"/>
              <a:t>eléctrico, tiene conectados únicamente un aire acondicionado y los tres servidores, lo que permite prolongar el suministro eléctrico por hasta 24 horas. Funciona con nafta, la cual debe cargarse manualmente.</a:t>
            </a:r>
          </a:p>
          <a:p>
            <a:pPr marL="139700" indent="0" algn="just">
              <a:buNone/>
            </a:pPr>
            <a:endParaRPr lang="es-AR" sz="1500" dirty="0"/>
          </a:p>
          <a:p>
            <a:pPr marL="139700" indent="0" algn="just">
              <a:buNone/>
            </a:pPr>
            <a:r>
              <a:rPr lang="es-AR" sz="1500" b="1" dirty="0"/>
              <a:t>La UPS</a:t>
            </a:r>
            <a:r>
              <a:rPr lang="es-AR" sz="1500" dirty="0"/>
              <a:t>, tiene conectado únicamente el servidor PROD y la red eléctrica, con el objetivo de garantizar dos horas adicionales de funcionamiento para los servicios más importantes de los ambientes productivos. Esta empezara a consumirse cuando este el generador agotado, cuando la UPS no está en uso, sus baterías se mantienen en carga.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Servidores PROD LAB NAS</a:t>
            </a:r>
            <a:endParaRPr dirty="0"/>
          </a:p>
        </p:txBody>
      </p:sp>
      <p:sp>
        <p:nvSpPr>
          <p:cNvPr id="251" name="Google Shape;251;p38"/>
          <p:cNvSpPr txBox="1">
            <a:spLocks noGrp="1"/>
          </p:cNvSpPr>
          <p:nvPr>
            <p:ph type="subTitle" idx="4294967295"/>
          </p:nvPr>
        </p:nvSpPr>
        <p:spPr>
          <a:xfrm>
            <a:off x="957972" y="1639526"/>
            <a:ext cx="7711800" cy="22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accent3"/>
                </a:solidFill>
              </a:rPr>
              <a:t>Los </a:t>
            </a:r>
            <a:r>
              <a:rPr lang="en-US" sz="1700" dirty="0" err="1">
                <a:solidFill>
                  <a:schemeClr val="accent3"/>
                </a:solidFill>
              </a:rPr>
              <a:t>tres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servidores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estan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conectados</a:t>
            </a:r>
            <a:r>
              <a:rPr lang="en-US" sz="1700" dirty="0">
                <a:solidFill>
                  <a:schemeClr val="accent3"/>
                </a:solidFill>
              </a:rPr>
              <a:t> a </a:t>
            </a:r>
            <a:r>
              <a:rPr lang="en-US" sz="1700" b="1" dirty="0">
                <a:solidFill>
                  <a:schemeClr val="accent3"/>
                </a:solidFill>
              </a:rPr>
              <a:t>la </a:t>
            </a:r>
            <a:r>
              <a:rPr lang="en-US" sz="1700" b="1" dirty="0" err="1">
                <a:solidFill>
                  <a:schemeClr val="accent3"/>
                </a:solidFill>
              </a:rPr>
              <a:t>linea</a:t>
            </a:r>
            <a:r>
              <a:rPr lang="en-US" sz="1700" b="1" dirty="0">
                <a:solidFill>
                  <a:schemeClr val="accent3"/>
                </a:solidFill>
              </a:rPr>
              <a:t> </a:t>
            </a:r>
            <a:r>
              <a:rPr lang="en-US" sz="1700" b="1" dirty="0" err="1">
                <a:solidFill>
                  <a:schemeClr val="accent3"/>
                </a:solidFill>
              </a:rPr>
              <a:t>electrica</a:t>
            </a:r>
            <a:r>
              <a:rPr lang="en-US" sz="1700" dirty="0">
                <a:solidFill>
                  <a:schemeClr val="accent3"/>
                </a:solidFill>
              </a:rPr>
              <a:t>, </a:t>
            </a:r>
            <a:r>
              <a:rPr lang="en-US" sz="1700" dirty="0" err="1">
                <a:solidFill>
                  <a:schemeClr val="accent3"/>
                </a:solidFill>
              </a:rPr>
              <a:t>cuando</a:t>
            </a:r>
            <a:r>
              <a:rPr lang="en-US" sz="1700" dirty="0">
                <a:solidFill>
                  <a:schemeClr val="accent3"/>
                </a:solidFill>
              </a:rPr>
              <a:t> se </a:t>
            </a:r>
            <a:r>
              <a:rPr lang="en-US" sz="1700" dirty="0" err="1">
                <a:solidFill>
                  <a:schemeClr val="accent3"/>
                </a:solidFill>
              </a:rPr>
              <a:t>corta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el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suministro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electrico</a:t>
            </a:r>
            <a:r>
              <a:rPr lang="en-US" sz="1700" dirty="0">
                <a:solidFill>
                  <a:schemeClr val="accent3"/>
                </a:solidFill>
              </a:rPr>
              <a:t> se </a:t>
            </a:r>
            <a:r>
              <a:rPr lang="en-US" sz="1700" dirty="0" err="1">
                <a:solidFill>
                  <a:schemeClr val="accent3"/>
                </a:solidFill>
              </a:rPr>
              <a:t>pasa</a:t>
            </a:r>
            <a:r>
              <a:rPr lang="en-US" sz="1700" dirty="0">
                <a:solidFill>
                  <a:schemeClr val="accent3"/>
                </a:solidFill>
              </a:rPr>
              <a:t> a usar la </a:t>
            </a:r>
            <a:r>
              <a:rPr lang="en-US" sz="1700" dirty="0" err="1">
                <a:solidFill>
                  <a:schemeClr val="accent3"/>
                </a:solidFill>
              </a:rPr>
              <a:t>linea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electrica</a:t>
            </a:r>
            <a:r>
              <a:rPr lang="en-US" sz="1700" dirty="0">
                <a:solidFill>
                  <a:schemeClr val="accent3"/>
                </a:solidFill>
              </a:rPr>
              <a:t> del </a:t>
            </a:r>
            <a:r>
              <a:rPr lang="en-US" sz="1700" b="1" dirty="0" err="1">
                <a:solidFill>
                  <a:schemeClr val="accent3"/>
                </a:solidFill>
              </a:rPr>
              <a:t>generador</a:t>
            </a:r>
            <a:r>
              <a:rPr lang="en-US" sz="1700" dirty="0">
                <a:solidFill>
                  <a:schemeClr val="accent3"/>
                </a:solidFill>
              </a:rPr>
              <a:t>, </a:t>
            </a:r>
            <a:r>
              <a:rPr lang="en-US" sz="1700" dirty="0" err="1">
                <a:solidFill>
                  <a:schemeClr val="accent3"/>
                </a:solidFill>
              </a:rPr>
              <a:t>cuando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este</a:t>
            </a:r>
            <a:r>
              <a:rPr lang="en-US" sz="1700" dirty="0">
                <a:solidFill>
                  <a:schemeClr val="accent3"/>
                </a:solidFill>
              </a:rPr>
              <a:t> se </a:t>
            </a:r>
            <a:r>
              <a:rPr lang="en-US" sz="1700" dirty="0" err="1">
                <a:solidFill>
                  <a:schemeClr val="accent3"/>
                </a:solidFill>
              </a:rPr>
              <a:t>agota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pasa</a:t>
            </a:r>
            <a:r>
              <a:rPr lang="en-US" sz="1700" dirty="0">
                <a:solidFill>
                  <a:schemeClr val="accent3"/>
                </a:solidFill>
              </a:rPr>
              <a:t> a </a:t>
            </a:r>
            <a:r>
              <a:rPr lang="en-US" sz="1700" dirty="0" err="1">
                <a:solidFill>
                  <a:schemeClr val="accent3"/>
                </a:solidFill>
              </a:rPr>
              <a:t>usarse</a:t>
            </a:r>
            <a:r>
              <a:rPr lang="en-US" sz="1700" dirty="0">
                <a:solidFill>
                  <a:schemeClr val="accent3"/>
                </a:solidFill>
              </a:rPr>
              <a:t> la </a:t>
            </a:r>
            <a:r>
              <a:rPr lang="en-US" sz="1700" dirty="0" err="1">
                <a:solidFill>
                  <a:schemeClr val="accent3"/>
                </a:solidFill>
              </a:rPr>
              <a:t>linea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conectada</a:t>
            </a:r>
            <a:r>
              <a:rPr lang="en-US" sz="1700" dirty="0">
                <a:solidFill>
                  <a:schemeClr val="accent3"/>
                </a:solidFill>
              </a:rPr>
              <a:t> a la </a:t>
            </a:r>
            <a:r>
              <a:rPr lang="en-US" sz="1700" b="1" dirty="0">
                <a:solidFill>
                  <a:schemeClr val="accent3"/>
                </a:solidFill>
              </a:rPr>
              <a:t>UPS, </a:t>
            </a:r>
            <a:r>
              <a:rPr lang="en-US" sz="1700" b="1" dirty="0" err="1">
                <a:solidFill>
                  <a:schemeClr val="accent3"/>
                </a:solidFill>
              </a:rPr>
              <a:t>en</a:t>
            </a:r>
            <a:r>
              <a:rPr lang="en-US" sz="1700" b="1" dirty="0">
                <a:solidFill>
                  <a:schemeClr val="accent3"/>
                </a:solidFill>
              </a:rPr>
              <a:t> ese </a:t>
            </a:r>
            <a:r>
              <a:rPr lang="en-US" sz="1700" b="1" dirty="0" err="1">
                <a:solidFill>
                  <a:schemeClr val="accent3"/>
                </a:solidFill>
              </a:rPr>
              <a:t>momento</a:t>
            </a:r>
            <a:r>
              <a:rPr lang="en-US" sz="1700" b="1" dirty="0">
                <a:solidFill>
                  <a:schemeClr val="accent3"/>
                </a:solidFill>
              </a:rPr>
              <a:t> se </a:t>
            </a:r>
            <a:r>
              <a:rPr lang="en-US" sz="1700" b="1" dirty="0" err="1">
                <a:solidFill>
                  <a:schemeClr val="accent3"/>
                </a:solidFill>
              </a:rPr>
              <a:t>envian</a:t>
            </a:r>
            <a:r>
              <a:rPr lang="en-US" sz="1700" b="1" dirty="0">
                <a:solidFill>
                  <a:schemeClr val="accent3"/>
                </a:solidFill>
              </a:rPr>
              <a:t> </a:t>
            </a:r>
            <a:r>
              <a:rPr lang="en-US" sz="1700" b="1" dirty="0" err="1">
                <a:solidFill>
                  <a:schemeClr val="accent3"/>
                </a:solidFill>
              </a:rPr>
              <a:t>señales</a:t>
            </a:r>
            <a:r>
              <a:rPr lang="en-US" sz="1700" b="1" dirty="0">
                <a:solidFill>
                  <a:schemeClr val="accent3"/>
                </a:solidFill>
              </a:rPr>
              <a:t> de </a:t>
            </a:r>
            <a:r>
              <a:rPr lang="en-US" sz="1700" b="1" dirty="0" err="1">
                <a:solidFill>
                  <a:schemeClr val="accent3"/>
                </a:solidFill>
              </a:rPr>
              <a:t>apagado</a:t>
            </a:r>
            <a:r>
              <a:rPr lang="en-US" sz="1700" b="1" dirty="0">
                <a:solidFill>
                  <a:schemeClr val="accent3"/>
                </a:solidFill>
              </a:rPr>
              <a:t> a </a:t>
            </a:r>
            <a:r>
              <a:rPr lang="en-US" sz="1700" b="1" dirty="0" err="1">
                <a:solidFill>
                  <a:schemeClr val="accent3"/>
                </a:solidFill>
              </a:rPr>
              <a:t>los</a:t>
            </a:r>
            <a:r>
              <a:rPr lang="en-US" sz="1700" b="1" dirty="0">
                <a:solidFill>
                  <a:schemeClr val="accent3"/>
                </a:solidFill>
              </a:rPr>
              <a:t> server LAB y NAS </a:t>
            </a:r>
            <a:r>
              <a:rPr lang="en-US" sz="1700" b="1" dirty="0" err="1">
                <a:solidFill>
                  <a:schemeClr val="accent3"/>
                </a:solidFill>
              </a:rPr>
              <a:t>quedando</a:t>
            </a:r>
            <a:r>
              <a:rPr lang="en-US" sz="1700" b="1" dirty="0">
                <a:solidFill>
                  <a:schemeClr val="accent3"/>
                </a:solidFill>
              </a:rPr>
              <a:t> </a:t>
            </a:r>
            <a:r>
              <a:rPr lang="en-US" sz="1700" b="1" dirty="0" err="1">
                <a:solidFill>
                  <a:schemeClr val="accent3"/>
                </a:solidFill>
              </a:rPr>
              <a:t>solamente</a:t>
            </a:r>
            <a:r>
              <a:rPr lang="en-US" sz="1700" b="1" dirty="0">
                <a:solidFill>
                  <a:schemeClr val="accent3"/>
                </a:solidFill>
              </a:rPr>
              <a:t> </a:t>
            </a:r>
            <a:r>
              <a:rPr lang="en-US" sz="1700" b="1" dirty="0" err="1">
                <a:solidFill>
                  <a:schemeClr val="accent3"/>
                </a:solidFill>
              </a:rPr>
              <a:t>el</a:t>
            </a:r>
            <a:r>
              <a:rPr lang="en-US" sz="1700" b="1" dirty="0">
                <a:solidFill>
                  <a:schemeClr val="accent3"/>
                </a:solidFill>
              </a:rPr>
              <a:t> </a:t>
            </a:r>
            <a:r>
              <a:rPr lang="en-US" sz="1700" b="1" dirty="0" err="1">
                <a:solidFill>
                  <a:schemeClr val="accent3"/>
                </a:solidFill>
              </a:rPr>
              <a:t>servidor</a:t>
            </a:r>
            <a:r>
              <a:rPr lang="en-US" sz="1700" b="1" dirty="0">
                <a:solidFill>
                  <a:schemeClr val="accent3"/>
                </a:solidFill>
              </a:rPr>
              <a:t> PROD </a:t>
            </a:r>
            <a:r>
              <a:rPr lang="en-US" sz="1700" b="1" dirty="0" err="1">
                <a:solidFill>
                  <a:schemeClr val="accent3"/>
                </a:solidFill>
              </a:rPr>
              <a:t>conectado</a:t>
            </a:r>
            <a:r>
              <a:rPr lang="en-US" sz="1700" b="1" dirty="0">
                <a:solidFill>
                  <a:schemeClr val="accent3"/>
                </a:solidFill>
              </a:rPr>
              <a:t> a la </a:t>
            </a:r>
            <a:r>
              <a:rPr lang="en-US" sz="1700" b="1" dirty="0" err="1">
                <a:solidFill>
                  <a:schemeClr val="accent3"/>
                </a:solidFill>
              </a:rPr>
              <a:t>linea</a:t>
            </a:r>
            <a:r>
              <a:rPr lang="en-US" sz="1700" b="1" dirty="0">
                <a:solidFill>
                  <a:schemeClr val="accent3"/>
                </a:solidFill>
              </a:rPr>
              <a:t> UPS,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garantizando</a:t>
            </a:r>
            <a:r>
              <a:rPr lang="en-US" sz="1700" dirty="0">
                <a:solidFill>
                  <a:schemeClr val="accent3"/>
                </a:solidFill>
              </a:rPr>
              <a:t> mas </a:t>
            </a:r>
            <a:r>
              <a:rPr lang="en-US" sz="1700" dirty="0" err="1">
                <a:solidFill>
                  <a:schemeClr val="accent3"/>
                </a:solidFill>
              </a:rPr>
              <a:t>tiempo</a:t>
            </a:r>
            <a:r>
              <a:rPr lang="en-US" sz="1700" dirty="0">
                <a:solidFill>
                  <a:schemeClr val="accent3"/>
                </a:solidFill>
              </a:rPr>
              <a:t> de uptime de </a:t>
            </a:r>
            <a:r>
              <a:rPr lang="en-US" sz="1700" dirty="0" err="1">
                <a:solidFill>
                  <a:schemeClr val="accent3"/>
                </a:solidFill>
              </a:rPr>
              <a:t>los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servicios</a:t>
            </a:r>
            <a:r>
              <a:rPr lang="en-US" sz="1700" dirty="0">
                <a:solidFill>
                  <a:schemeClr val="accent3"/>
                </a:solidFill>
              </a:rPr>
              <a:t> </a:t>
            </a:r>
            <a:r>
              <a:rPr lang="en-US" sz="1700" dirty="0" err="1">
                <a:solidFill>
                  <a:schemeClr val="accent3"/>
                </a:solidFill>
              </a:rPr>
              <a:t>productivos</a:t>
            </a:r>
            <a:r>
              <a:rPr lang="en-US" sz="1700" dirty="0">
                <a:solidFill>
                  <a:schemeClr val="accent3"/>
                </a:solidFill>
              </a:rPr>
              <a:t>.</a:t>
            </a:r>
            <a:endParaRPr sz="17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369B07CD-E8D6-B1C8-E254-35949937E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>
            <a:extLst>
              <a:ext uri="{FF2B5EF4-FFF2-40B4-BE49-F238E27FC236}">
                <a16:creationId xmlns:a16="http://schemas.microsoft.com/office/drawing/2014/main" id="{501ACD83-DDD9-23FB-EBFA-055E179A08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Aires acondicionados</a:t>
            </a:r>
            <a:endParaRPr dirty="0"/>
          </a:p>
        </p:txBody>
      </p:sp>
      <p:sp>
        <p:nvSpPr>
          <p:cNvPr id="251" name="Google Shape;251;p38">
            <a:extLst>
              <a:ext uri="{FF2B5EF4-FFF2-40B4-BE49-F238E27FC236}">
                <a16:creationId xmlns:a16="http://schemas.microsoft.com/office/drawing/2014/main" id="{743D338A-4FC2-6777-F46D-536381DEF51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244530" y="1522568"/>
            <a:ext cx="6272168" cy="22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3"/>
                </a:solidFill>
              </a:rPr>
              <a:t>Hay dos </a:t>
            </a:r>
            <a:r>
              <a:rPr lang="en-US" sz="2400" dirty="0" err="1">
                <a:solidFill>
                  <a:schemeClr val="accent3"/>
                </a:solidFill>
              </a:rPr>
              <a:t>unidades</a:t>
            </a:r>
            <a:r>
              <a:rPr lang="en-US" sz="2400" dirty="0">
                <a:solidFill>
                  <a:schemeClr val="accent3"/>
                </a:solidFill>
              </a:rPr>
              <a:t> </a:t>
            </a:r>
            <a:r>
              <a:rPr lang="en-US" sz="2400" dirty="0" err="1">
                <a:solidFill>
                  <a:schemeClr val="accent3"/>
                </a:solidFill>
              </a:rPr>
              <a:t>en</a:t>
            </a:r>
            <a:r>
              <a:rPr lang="en-US" sz="2400" dirty="0">
                <a:solidFill>
                  <a:schemeClr val="accent3"/>
                </a:solidFill>
              </a:rPr>
              <a:t> la sala, solo </a:t>
            </a:r>
            <a:r>
              <a:rPr lang="en-US" sz="2400" dirty="0" err="1">
                <a:solidFill>
                  <a:schemeClr val="accent3"/>
                </a:solidFill>
              </a:rPr>
              <a:t>una</a:t>
            </a:r>
            <a:r>
              <a:rPr lang="en-US" sz="2400" dirty="0">
                <a:solidFill>
                  <a:schemeClr val="accent3"/>
                </a:solidFill>
              </a:rPr>
              <a:t> de </a:t>
            </a:r>
            <a:r>
              <a:rPr lang="en-US" sz="2400" dirty="0" err="1">
                <a:solidFill>
                  <a:schemeClr val="accent3"/>
                </a:solidFill>
              </a:rPr>
              <a:t>ellas</a:t>
            </a:r>
            <a:r>
              <a:rPr lang="en-US" sz="2400" dirty="0">
                <a:solidFill>
                  <a:schemeClr val="accent3"/>
                </a:solidFill>
              </a:rPr>
              <a:t> </a:t>
            </a:r>
            <a:r>
              <a:rPr lang="en-US" sz="2400" dirty="0" err="1">
                <a:solidFill>
                  <a:schemeClr val="accent3"/>
                </a:solidFill>
              </a:rPr>
              <a:t>esta</a:t>
            </a:r>
            <a:r>
              <a:rPr lang="en-US" sz="2400" dirty="0">
                <a:solidFill>
                  <a:schemeClr val="accent3"/>
                </a:solidFill>
              </a:rPr>
              <a:t> </a:t>
            </a:r>
            <a:r>
              <a:rPr lang="en-US" sz="2400" dirty="0" err="1">
                <a:solidFill>
                  <a:schemeClr val="accent3"/>
                </a:solidFill>
              </a:rPr>
              <a:t>conectada</a:t>
            </a:r>
            <a:r>
              <a:rPr lang="en-US" sz="2400" dirty="0">
                <a:solidFill>
                  <a:schemeClr val="accent3"/>
                </a:solidFill>
              </a:rPr>
              <a:t> al </a:t>
            </a:r>
            <a:r>
              <a:rPr lang="en-US" sz="2400" dirty="0" err="1">
                <a:solidFill>
                  <a:schemeClr val="accent3"/>
                </a:solidFill>
              </a:rPr>
              <a:t>generador</a:t>
            </a:r>
            <a:r>
              <a:rPr lang="en-US" sz="2400" dirty="0">
                <a:solidFill>
                  <a:schemeClr val="accent3"/>
                </a:solidFill>
              </a:rPr>
              <a:t> para </a:t>
            </a:r>
            <a:r>
              <a:rPr lang="en-US" sz="2400" dirty="0" err="1">
                <a:solidFill>
                  <a:schemeClr val="accent3"/>
                </a:solidFill>
              </a:rPr>
              <a:t>consumir</a:t>
            </a:r>
            <a:r>
              <a:rPr lang="en-US" sz="2400" dirty="0">
                <a:solidFill>
                  <a:schemeClr val="accent3"/>
                </a:solidFill>
              </a:rPr>
              <a:t> </a:t>
            </a:r>
            <a:r>
              <a:rPr lang="en-US" sz="2400" dirty="0" err="1">
                <a:solidFill>
                  <a:schemeClr val="accent3"/>
                </a:solidFill>
              </a:rPr>
              <a:t>menos</a:t>
            </a:r>
            <a:r>
              <a:rPr lang="en-US" sz="2400" dirty="0">
                <a:solidFill>
                  <a:schemeClr val="accent3"/>
                </a:solidFill>
              </a:rPr>
              <a:t> </a:t>
            </a:r>
            <a:r>
              <a:rPr lang="en-US" sz="2400" dirty="0" err="1">
                <a:solidFill>
                  <a:schemeClr val="accent3"/>
                </a:solidFill>
              </a:rPr>
              <a:t>energia</a:t>
            </a:r>
            <a:r>
              <a:rPr lang="en-US" sz="2400" dirty="0">
                <a:solidFill>
                  <a:schemeClr val="accent3"/>
                </a:solidFill>
              </a:rPr>
              <a:t> </a:t>
            </a:r>
            <a:r>
              <a:rPr lang="en-US" sz="2400" dirty="0" err="1">
                <a:solidFill>
                  <a:schemeClr val="accent3"/>
                </a:solidFill>
              </a:rPr>
              <a:t>en</a:t>
            </a:r>
            <a:r>
              <a:rPr lang="en-US" sz="2400" dirty="0">
                <a:solidFill>
                  <a:schemeClr val="accent3"/>
                </a:solidFill>
              </a:rPr>
              <a:t> </a:t>
            </a:r>
            <a:r>
              <a:rPr lang="en-US" sz="2400" dirty="0" err="1">
                <a:solidFill>
                  <a:schemeClr val="accent3"/>
                </a:solidFill>
              </a:rPr>
              <a:t>caso</a:t>
            </a:r>
            <a:r>
              <a:rPr lang="en-US" sz="2400" dirty="0">
                <a:solidFill>
                  <a:schemeClr val="accent3"/>
                </a:solidFill>
              </a:rPr>
              <a:t> de corte de </a:t>
            </a:r>
            <a:r>
              <a:rPr lang="en-US" sz="2400" dirty="0" err="1">
                <a:solidFill>
                  <a:schemeClr val="accent3"/>
                </a:solidFill>
              </a:rPr>
              <a:t>suministro</a:t>
            </a:r>
            <a:r>
              <a:rPr lang="en-US" sz="2400" dirty="0">
                <a:solidFill>
                  <a:schemeClr val="accent3"/>
                </a:solidFill>
              </a:rPr>
              <a:t>. </a:t>
            </a:r>
            <a:r>
              <a:rPr lang="en-US" sz="2400" dirty="0" err="1">
                <a:solidFill>
                  <a:schemeClr val="accent3"/>
                </a:solidFill>
              </a:rPr>
              <a:t>Adicional</a:t>
            </a:r>
            <a:r>
              <a:rPr lang="en-US" sz="2400" dirty="0">
                <a:solidFill>
                  <a:schemeClr val="accent3"/>
                </a:solidFill>
              </a:rPr>
              <a:t> a </a:t>
            </a:r>
            <a:r>
              <a:rPr lang="en-US" sz="2400" dirty="0" err="1">
                <a:solidFill>
                  <a:schemeClr val="accent3"/>
                </a:solidFill>
              </a:rPr>
              <a:t>ellos</a:t>
            </a:r>
            <a:r>
              <a:rPr lang="en-US" sz="2400" dirty="0">
                <a:solidFill>
                  <a:schemeClr val="accent3"/>
                </a:solidFill>
              </a:rPr>
              <a:t> hay un display de </a:t>
            </a:r>
            <a:r>
              <a:rPr lang="en-US" sz="2400" dirty="0" err="1">
                <a:solidFill>
                  <a:schemeClr val="accent3"/>
                </a:solidFill>
              </a:rPr>
              <a:t>temperatura</a:t>
            </a:r>
            <a:r>
              <a:rPr lang="en-US" sz="2400" dirty="0">
                <a:solidFill>
                  <a:schemeClr val="accent3"/>
                </a:solidFill>
              </a:rPr>
              <a:t> </a:t>
            </a:r>
            <a:r>
              <a:rPr lang="en-US" sz="2400" dirty="0" err="1">
                <a:solidFill>
                  <a:schemeClr val="accent3"/>
                </a:solidFill>
              </a:rPr>
              <a:t>ambiente</a:t>
            </a:r>
            <a:endParaRPr lang="en-US" sz="2400" dirty="0">
              <a:solidFill>
                <a:schemeClr val="accent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192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90254B34-FBAF-F0B4-B348-1681E443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>
            <a:extLst>
              <a:ext uri="{FF2B5EF4-FFF2-40B4-BE49-F238E27FC236}">
                <a16:creationId xmlns:a16="http://schemas.microsoft.com/office/drawing/2014/main" id="{EFB594E9-FE99-82D2-D264-04AC43AC20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732" y="899048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Alta disponibilidad  en emergencia</a:t>
            </a:r>
            <a:endParaRPr dirty="0"/>
          </a:p>
        </p:txBody>
      </p:sp>
      <p:sp>
        <p:nvSpPr>
          <p:cNvPr id="251" name="Google Shape;251;p38">
            <a:extLst>
              <a:ext uri="{FF2B5EF4-FFF2-40B4-BE49-F238E27FC236}">
                <a16:creationId xmlns:a16="http://schemas.microsoft.com/office/drawing/2014/main" id="{EBFC67E3-9217-4CDB-D97B-5DB64BCFAAD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531609" y="2088310"/>
            <a:ext cx="6272168" cy="22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3"/>
                </a:solidFill>
              </a:rPr>
              <a:t>Si </a:t>
            </a:r>
            <a:r>
              <a:rPr lang="en-US" sz="2000" dirty="0" err="1">
                <a:solidFill>
                  <a:schemeClr val="accent3"/>
                </a:solidFill>
              </a:rPr>
              <a:t>el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 err="1">
                <a:solidFill>
                  <a:schemeClr val="accent3"/>
                </a:solidFill>
              </a:rPr>
              <a:t>servicio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 err="1">
                <a:solidFill>
                  <a:schemeClr val="accent3"/>
                </a:solidFill>
              </a:rPr>
              <a:t>cae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 err="1">
                <a:solidFill>
                  <a:schemeClr val="accent3"/>
                </a:solidFill>
              </a:rPr>
              <a:t>completamente</a:t>
            </a:r>
            <a:r>
              <a:rPr lang="en-US" sz="2000" dirty="0">
                <a:solidFill>
                  <a:schemeClr val="accent3"/>
                </a:solidFill>
              </a:rPr>
              <a:t> se </a:t>
            </a:r>
            <a:r>
              <a:rPr lang="en-US" sz="2000" dirty="0" err="1">
                <a:solidFill>
                  <a:schemeClr val="accent3"/>
                </a:solidFill>
              </a:rPr>
              <a:t>activa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 err="1">
                <a:solidFill>
                  <a:schemeClr val="accent3"/>
                </a:solidFill>
              </a:rPr>
              <a:t>DisasterRecovery</a:t>
            </a:r>
            <a:r>
              <a:rPr lang="en-US" sz="2000" dirty="0">
                <a:solidFill>
                  <a:schemeClr val="accent3"/>
                </a:solidFill>
              </a:rPr>
              <a:t>, </a:t>
            </a:r>
            <a:r>
              <a:rPr lang="en-US" sz="2000" dirty="0" err="1">
                <a:solidFill>
                  <a:schemeClr val="accent3"/>
                </a:solidFill>
              </a:rPr>
              <a:t>este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 err="1">
                <a:solidFill>
                  <a:schemeClr val="accent3"/>
                </a:solidFill>
              </a:rPr>
              <a:t>esta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 err="1">
                <a:solidFill>
                  <a:schemeClr val="accent3"/>
                </a:solidFill>
              </a:rPr>
              <a:t>configurado</a:t>
            </a:r>
            <a:r>
              <a:rPr lang="en-US" sz="2000" dirty="0">
                <a:solidFill>
                  <a:schemeClr val="accent3"/>
                </a:solidFill>
              </a:rPr>
              <a:t> para pasar </a:t>
            </a:r>
            <a:r>
              <a:rPr lang="en-US" sz="2000" dirty="0" err="1">
                <a:solidFill>
                  <a:schemeClr val="accent3"/>
                </a:solidFill>
              </a:rPr>
              <a:t>el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 err="1">
                <a:solidFill>
                  <a:schemeClr val="accent3"/>
                </a:solidFill>
              </a:rPr>
              <a:t>servicio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 err="1">
                <a:solidFill>
                  <a:schemeClr val="accent3"/>
                </a:solidFill>
              </a:rPr>
              <a:t>productivo</a:t>
            </a:r>
            <a:r>
              <a:rPr lang="en-US" sz="2000" dirty="0">
                <a:solidFill>
                  <a:schemeClr val="accent3"/>
                </a:solidFill>
              </a:rPr>
              <a:t> (PROD), cambia la </a:t>
            </a:r>
            <a:r>
              <a:rPr lang="en-US" sz="2000" dirty="0" err="1">
                <a:solidFill>
                  <a:schemeClr val="accent3"/>
                </a:solidFill>
              </a:rPr>
              <a:t>ruta</a:t>
            </a:r>
            <a:r>
              <a:rPr lang="en-US" sz="2000" dirty="0">
                <a:solidFill>
                  <a:schemeClr val="accent3"/>
                </a:solidFill>
              </a:rPr>
              <a:t> DNS al </a:t>
            </a:r>
            <a:r>
              <a:rPr lang="en-US" sz="2000" dirty="0" err="1">
                <a:solidFill>
                  <a:schemeClr val="accent3"/>
                </a:solidFill>
              </a:rPr>
              <a:t>servidor</a:t>
            </a:r>
            <a:r>
              <a:rPr lang="en-US" sz="2000" dirty="0">
                <a:solidFill>
                  <a:schemeClr val="accent3"/>
                </a:solidFill>
              </a:rPr>
              <a:t> PROD </a:t>
            </a:r>
            <a:r>
              <a:rPr lang="en-US" sz="2000" dirty="0" err="1">
                <a:solidFill>
                  <a:schemeClr val="accent3"/>
                </a:solidFill>
              </a:rPr>
              <a:t>instalado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 err="1">
                <a:solidFill>
                  <a:schemeClr val="accent3"/>
                </a:solidFill>
              </a:rPr>
              <a:t>en</a:t>
            </a:r>
            <a:r>
              <a:rPr lang="en-US" sz="2000" dirty="0">
                <a:solidFill>
                  <a:schemeClr val="accent3"/>
                </a:solidFill>
              </a:rPr>
              <a:t> CABA, </a:t>
            </a:r>
            <a:r>
              <a:rPr lang="en-US" sz="2000" dirty="0" err="1">
                <a:solidFill>
                  <a:schemeClr val="accent3"/>
                </a:solidFill>
              </a:rPr>
              <a:t>redirigiendo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 err="1">
                <a:solidFill>
                  <a:schemeClr val="accent3"/>
                </a:solidFill>
              </a:rPr>
              <a:t>el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 err="1">
                <a:solidFill>
                  <a:schemeClr val="accent3"/>
                </a:solidFill>
              </a:rPr>
              <a:t>trafico</a:t>
            </a:r>
            <a:r>
              <a:rPr lang="en-US" sz="2000" dirty="0">
                <a:solidFill>
                  <a:schemeClr val="accent3"/>
                </a:solidFill>
              </a:rPr>
              <a:t>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40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9A49ECF4-8CAD-C38F-6C55-D42EB8092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>
            <a:extLst>
              <a:ext uri="{FF2B5EF4-FFF2-40B4-BE49-F238E27FC236}">
                <a16:creationId xmlns:a16="http://schemas.microsoft.com/office/drawing/2014/main" id="{70B37976-A98F-6B61-5355-0CE9F3BED9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732" y="899048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 de eventos</a:t>
            </a:r>
            <a:endParaRPr dirty="0"/>
          </a:p>
        </p:txBody>
      </p:sp>
      <p:sp>
        <p:nvSpPr>
          <p:cNvPr id="251" name="Google Shape;251;p38">
            <a:extLst>
              <a:ext uri="{FF2B5EF4-FFF2-40B4-BE49-F238E27FC236}">
                <a16:creationId xmlns:a16="http://schemas.microsoft.com/office/drawing/2014/main" id="{014FC5BA-52E2-8877-32C8-F518E6AABE1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287060" y="1971352"/>
            <a:ext cx="6453442" cy="22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lang="es-AR" sz="1800" dirty="0"/>
              <a:t>Se escribirán logs de los distintos eventos que se sucedan, tales como cambios de suministro, apagados/encendidos de equipos, variaciones de temperatura, etc. Pueden utilizarse para generar gráficos estadísticos o ser exportadas para una mejor visualización.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934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CE0A0D3B-3BB1-EF1C-4225-7B49489DA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>
            <a:extLst>
              <a:ext uri="{FF2B5EF4-FFF2-40B4-BE49-F238E27FC236}">
                <a16:creationId xmlns:a16="http://schemas.microsoft.com/office/drawing/2014/main" id="{37819A83-4407-7CEE-AE4C-F5E5CE0BD9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550" y="51627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Temperatura ambiente</a:t>
            </a:r>
            <a:endParaRPr dirty="0"/>
          </a:p>
        </p:txBody>
      </p:sp>
      <p:sp>
        <p:nvSpPr>
          <p:cNvPr id="305" name="Google Shape;305;p45">
            <a:extLst>
              <a:ext uri="{FF2B5EF4-FFF2-40B4-BE49-F238E27FC236}">
                <a16:creationId xmlns:a16="http://schemas.microsoft.com/office/drawing/2014/main" id="{790BE37C-141C-2004-11D8-0270FCB9FD8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542766" y="1291514"/>
            <a:ext cx="5729906" cy="29733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s-AR" sz="2000" dirty="0"/>
              <a:t>La temperatura ambiente de operación estable para el funcionamiento de los servidores es de hasta 30 °C. Superado este valor, se produce un apagado automático de los servidores como medida de precaución. Cuando la temperatura desciende por debajo de los 24 °C, los servidores se encienden nuevamente de forma automática. Todo esto esta monitorizado con un </a:t>
            </a:r>
            <a:r>
              <a:rPr lang="es-AR" sz="2000" dirty="0" err="1"/>
              <a:t>display</a:t>
            </a:r>
            <a:r>
              <a:rPr lang="es-AR" sz="2000" dirty="0"/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421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 txBox="1">
            <a:spLocks noGrp="1"/>
          </p:cNvSpPr>
          <p:nvPr>
            <p:ph type="subTitle" idx="1"/>
          </p:nvPr>
        </p:nvSpPr>
        <p:spPr>
          <a:xfrm>
            <a:off x="1468550" y="1660461"/>
            <a:ext cx="7313100" cy="16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Conclusión</a:t>
            </a:r>
            <a:endParaRPr dirty="0"/>
          </a:p>
        </p:txBody>
      </p:sp>
      <p:sp>
        <p:nvSpPr>
          <p:cNvPr id="297" name="Google Shape;297;p44"/>
          <p:cNvSpPr/>
          <p:nvPr/>
        </p:nvSpPr>
        <p:spPr>
          <a:xfrm rot="5400000">
            <a:off x="1060635" y="1366417"/>
            <a:ext cx="507900" cy="274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44"/>
          <p:cNvSpPr txBox="1">
            <a:spLocks noGrp="1"/>
          </p:cNvSpPr>
          <p:nvPr>
            <p:ph type="subTitle" idx="2"/>
          </p:nvPr>
        </p:nvSpPr>
        <p:spPr>
          <a:xfrm>
            <a:off x="1563531" y="2811447"/>
            <a:ext cx="4641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Resultados</a:t>
            </a:r>
            <a:r>
              <a:rPr lang="en-US" sz="1400" dirty="0"/>
              <a:t> y </a:t>
            </a:r>
            <a:r>
              <a:rPr lang="en-US" sz="1400" dirty="0" err="1"/>
              <a:t>recomendaciones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9" name="Google Shape;299;p44"/>
          <p:cNvSpPr txBox="1">
            <a:spLocks noGrp="1"/>
          </p:cNvSpPr>
          <p:nvPr>
            <p:ph type="title"/>
          </p:nvPr>
        </p:nvSpPr>
        <p:spPr>
          <a:xfrm>
            <a:off x="1468552" y="790708"/>
            <a:ext cx="2155500" cy="14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05.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2"/>
          <p:cNvSpPr txBox="1">
            <a:spLocks noGrp="1"/>
          </p:cNvSpPr>
          <p:nvPr>
            <p:ph type="title"/>
          </p:nvPr>
        </p:nvSpPr>
        <p:spPr>
          <a:xfrm>
            <a:off x="876515" y="947255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Obtenemos</a:t>
            </a:r>
            <a:endParaRPr dirty="0"/>
          </a:p>
        </p:txBody>
      </p:sp>
      <p:sp>
        <p:nvSpPr>
          <p:cNvPr id="374" name="Google Shape;374;p52"/>
          <p:cNvSpPr txBox="1">
            <a:spLocks noGrp="1"/>
          </p:cNvSpPr>
          <p:nvPr>
            <p:ph type="subTitle" idx="1"/>
          </p:nvPr>
        </p:nvSpPr>
        <p:spPr>
          <a:xfrm>
            <a:off x="901238" y="1860053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Monitoreo</a:t>
            </a:r>
            <a:endParaRPr/>
          </a:p>
        </p:txBody>
      </p:sp>
      <p:sp>
        <p:nvSpPr>
          <p:cNvPr id="375" name="Google Shape;375;p52"/>
          <p:cNvSpPr txBox="1">
            <a:spLocks noGrp="1"/>
          </p:cNvSpPr>
          <p:nvPr>
            <p:ph type="subTitle" idx="2"/>
          </p:nvPr>
        </p:nvSpPr>
        <p:spPr>
          <a:xfrm>
            <a:off x="856838" y="2115927"/>
            <a:ext cx="22692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Suministro electrico, temperatura, servidores</a:t>
            </a:r>
            <a:endParaRPr dirty="0"/>
          </a:p>
        </p:txBody>
      </p:sp>
      <p:sp>
        <p:nvSpPr>
          <p:cNvPr id="376" name="Google Shape;376;p52"/>
          <p:cNvSpPr txBox="1">
            <a:spLocks noGrp="1"/>
          </p:cNvSpPr>
          <p:nvPr>
            <p:ph type="subTitle" idx="3"/>
          </p:nvPr>
        </p:nvSpPr>
        <p:spPr>
          <a:xfrm>
            <a:off x="923438" y="3278547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Logs</a:t>
            </a:r>
            <a:endParaRPr/>
          </a:p>
        </p:txBody>
      </p:sp>
      <p:sp>
        <p:nvSpPr>
          <p:cNvPr id="377" name="Google Shape;377;p52"/>
          <p:cNvSpPr txBox="1">
            <a:spLocks noGrp="1"/>
          </p:cNvSpPr>
          <p:nvPr>
            <p:ph type="subTitle" idx="4"/>
          </p:nvPr>
        </p:nvSpPr>
        <p:spPr>
          <a:xfrm>
            <a:off x="879042" y="3534424"/>
            <a:ext cx="22692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Estadisticas y monitoreo de los eventos</a:t>
            </a:r>
            <a:endParaRPr dirty="0"/>
          </a:p>
        </p:txBody>
      </p:sp>
      <p:sp>
        <p:nvSpPr>
          <p:cNvPr id="378" name="Google Shape;378;p52"/>
          <p:cNvSpPr txBox="1">
            <a:spLocks noGrp="1"/>
          </p:cNvSpPr>
          <p:nvPr>
            <p:ph type="subTitle" idx="5"/>
          </p:nvPr>
        </p:nvSpPr>
        <p:spPr>
          <a:xfrm>
            <a:off x="5815942" y="3076525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Disponibilidad</a:t>
            </a:r>
            <a:endParaRPr dirty="0"/>
          </a:p>
        </p:txBody>
      </p:sp>
      <p:sp>
        <p:nvSpPr>
          <p:cNvPr id="379" name="Google Shape;379;p52"/>
          <p:cNvSpPr txBox="1">
            <a:spLocks noGrp="1"/>
          </p:cNvSpPr>
          <p:nvPr>
            <p:ph type="subTitle" idx="6"/>
          </p:nvPr>
        </p:nvSpPr>
        <p:spPr>
          <a:xfrm>
            <a:off x="5815949" y="3332402"/>
            <a:ext cx="22692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UPS, Generador, DisasterRecovery</a:t>
            </a:r>
            <a:endParaRPr dirty="0"/>
          </a:p>
        </p:txBody>
      </p:sp>
      <p:sp>
        <p:nvSpPr>
          <p:cNvPr id="380" name="Google Shape;380;p52"/>
          <p:cNvSpPr txBox="1">
            <a:spLocks noGrp="1"/>
          </p:cNvSpPr>
          <p:nvPr>
            <p:ph type="subTitle" idx="7"/>
          </p:nvPr>
        </p:nvSpPr>
        <p:spPr>
          <a:xfrm>
            <a:off x="5794678" y="1629883"/>
            <a:ext cx="22248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Temperaturas</a:t>
            </a:r>
            <a:endParaRPr dirty="0"/>
          </a:p>
        </p:txBody>
      </p:sp>
      <p:sp>
        <p:nvSpPr>
          <p:cNvPr id="381" name="Google Shape;381;p52"/>
          <p:cNvSpPr txBox="1">
            <a:spLocks noGrp="1"/>
          </p:cNvSpPr>
          <p:nvPr>
            <p:ph type="subTitle" idx="8"/>
          </p:nvPr>
        </p:nvSpPr>
        <p:spPr>
          <a:xfrm>
            <a:off x="5794680" y="1885752"/>
            <a:ext cx="22692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Max 30*C ,  Estable &lt; 24*C</a:t>
            </a:r>
            <a:endParaRPr dirty="0"/>
          </a:p>
        </p:txBody>
      </p:sp>
      <p:sp>
        <p:nvSpPr>
          <p:cNvPr id="382" name="Google Shape;382;p52"/>
          <p:cNvSpPr/>
          <p:nvPr/>
        </p:nvSpPr>
        <p:spPr>
          <a:xfrm rot="-5400000">
            <a:off x="3090179" y="2001536"/>
            <a:ext cx="252600" cy="136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52"/>
          <p:cNvSpPr/>
          <p:nvPr/>
        </p:nvSpPr>
        <p:spPr>
          <a:xfrm rot="-5400000">
            <a:off x="3090179" y="3416286"/>
            <a:ext cx="252600" cy="136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52"/>
          <p:cNvSpPr/>
          <p:nvPr/>
        </p:nvSpPr>
        <p:spPr>
          <a:xfrm rot="5400000" flipH="1">
            <a:off x="5642649" y="1778252"/>
            <a:ext cx="252600" cy="136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52"/>
          <p:cNvSpPr/>
          <p:nvPr/>
        </p:nvSpPr>
        <p:spPr>
          <a:xfrm rot="5400000" flipH="1">
            <a:off x="5642649" y="3193002"/>
            <a:ext cx="252600" cy="136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6" name="Google Shape;386;p52"/>
          <p:cNvGrpSpPr/>
          <p:nvPr/>
        </p:nvGrpSpPr>
        <p:grpSpPr>
          <a:xfrm>
            <a:off x="3699565" y="2009597"/>
            <a:ext cx="1575677" cy="1738571"/>
            <a:chOff x="3863508" y="1892640"/>
            <a:chExt cx="1575677" cy="1738571"/>
          </a:xfrm>
        </p:grpSpPr>
        <p:sp>
          <p:nvSpPr>
            <p:cNvPr id="387" name="Google Shape;387;p52"/>
            <p:cNvSpPr/>
            <p:nvPr/>
          </p:nvSpPr>
          <p:spPr>
            <a:xfrm>
              <a:off x="4619307" y="2196172"/>
              <a:ext cx="719087" cy="713535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2"/>
            <p:cNvSpPr/>
            <p:nvPr/>
          </p:nvSpPr>
          <p:spPr>
            <a:xfrm>
              <a:off x="4639764" y="2921680"/>
              <a:ext cx="678119" cy="678363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solidFill>
              <a:srgbClr val="EBE2FF">
                <a:alpha val="19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2"/>
            <p:cNvSpPr/>
            <p:nvPr/>
          </p:nvSpPr>
          <p:spPr>
            <a:xfrm>
              <a:off x="3962152" y="2626193"/>
              <a:ext cx="724251" cy="719011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2"/>
            <p:cNvSpPr/>
            <p:nvPr/>
          </p:nvSpPr>
          <p:spPr>
            <a:xfrm>
              <a:off x="4020305" y="1957846"/>
              <a:ext cx="646208" cy="646438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EBE2FF">
                <a:alpha val="19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1" name="Google Shape;391;p52"/>
            <p:cNvGrpSpPr/>
            <p:nvPr/>
          </p:nvGrpSpPr>
          <p:grpSpPr>
            <a:xfrm>
              <a:off x="4195443" y="1892640"/>
              <a:ext cx="317742" cy="65234"/>
              <a:chOff x="4356567" y="1191441"/>
              <a:chExt cx="143690" cy="29488"/>
            </a:xfrm>
          </p:grpSpPr>
          <p:sp>
            <p:nvSpPr>
              <p:cNvPr id="392" name="Google Shape;392;p52"/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52"/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52"/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52"/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6" name="Google Shape;396;p52"/>
            <p:cNvGrpSpPr/>
            <p:nvPr/>
          </p:nvGrpSpPr>
          <p:grpSpPr>
            <a:xfrm>
              <a:off x="3863508" y="2812636"/>
              <a:ext cx="65320" cy="316122"/>
              <a:chOff x="4206459" y="1607315"/>
              <a:chExt cx="29539" cy="142899"/>
            </a:xfrm>
          </p:grpSpPr>
          <p:sp>
            <p:nvSpPr>
              <p:cNvPr id="397" name="Google Shape;397;p52"/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52"/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52"/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52"/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1" name="Google Shape;401;p52"/>
            <p:cNvGrpSpPr/>
            <p:nvPr/>
          </p:nvGrpSpPr>
          <p:grpSpPr>
            <a:xfrm>
              <a:off x="5373836" y="2406525"/>
              <a:ext cx="65349" cy="316122"/>
              <a:chOff x="4889463" y="1423737"/>
              <a:chExt cx="29552" cy="142899"/>
            </a:xfrm>
          </p:grpSpPr>
          <p:sp>
            <p:nvSpPr>
              <p:cNvPr id="402" name="Google Shape;402;p52"/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52"/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52"/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52"/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6" name="Google Shape;406;p52"/>
            <p:cNvGrpSpPr/>
            <p:nvPr/>
          </p:nvGrpSpPr>
          <p:grpSpPr>
            <a:xfrm>
              <a:off x="5113344" y="3409002"/>
              <a:ext cx="240261" cy="222208"/>
              <a:chOff x="4771663" y="1876896"/>
              <a:chExt cx="108651" cy="100447"/>
            </a:xfrm>
          </p:grpSpPr>
          <p:sp>
            <p:nvSpPr>
              <p:cNvPr id="407" name="Google Shape;407;p52"/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52"/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52"/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52"/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1"/>
          <p:cNvSpPr txBox="1">
            <a:spLocks noGrp="1"/>
          </p:cNvSpPr>
          <p:nvPr>
            <p:ph type="title"/>
          </p:nvPr>
        </p:nvSpPr>
        <p:spPr>
          <a:xfrm>
            <a:off x="878362" y="732986"/>
            <a:ext cx="5652000" cy="3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Chequeos</a:t>
            </a:r>
            <a:endParaRPr dirty="0"/>
          </a:p>
        </p:txBody>
      </p:sp>
      <p:sp>
        <p:nvSpPr>
          <p:cNvPr id="367" name="Google Shape;367;p51"/>
          <p:cNvSpPr txBox="1">
            <a:spLocks noGrp="1"/>
          </p:cNvSpPr>
          <p:nvPr>
            <p:ph type="body" idx="1"/>
          </p:nvPr>
        </p:nvSpPr>
        <p:spPr>
          <a:xfrm>
            <a:off x="2280462" y="1781569"/>
            <a:ext cx="5234700" cy="27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▶"/>
            </a:pPr>
            <a:r>
              <a:rPr lang="en-US" dirty="0" err="1"/>
              <a:t>Bateria</a:t>
            </a:r>
            <a:r>
              <a:rPr lang="en-US" dirty="0"/>
              <a:t> :  </a:t>
            </a:r>
            <a:r>
              <a:rPr lang="en-US" dirty="0" err="1"/>
              <a:t>niveles</a:t>
            </a:r>
            <a:r>
              <a:rPr lang="en-US" dirty="0"/>
              <a:t> de carga UPS y </a:t>
            </a:r>
            <a:r>
              <a:rPr lang="en-US" dirty="0" err="1"/>
              <a:t>generador</a:t>
            </a:r>
            <a:endParaRPr lang="en-US" dirty="0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▶"/>
            </a:pPr>
            <a:r>
              <a:rPr lang="en" dirty="0"/>
              <a:t>Carga nafta de Generador / reemplazo baterias UPS</a:t>
            </a:r>
            <a:br>
              <a:rPr lang="en" dirty="0"/>
            </a:b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▶"/>
            </a:pPr>
            <a:r>
              <a:rPr lang="en" dirty="0"/>
              <a:t>Linea de suministro de uso actual</a:t>
            </a:r>
            <a:br>
              <a:rPr lang="en" dirty="0"/>
            </a:b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▶"/>
            </a:pPr>
            <a:r>
              <a:rPr lang="en" dirty="0"/>
              <a:t>Temperaturas de ambiente promedio &lt; 26*</a:t>
            </a:r>
            <a:br>
              <a:rPr lang="en" dirty="0"/>
            </a:b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▶"/>
            </a:pPr>
            <a:r>
              <a:rPr lang="en" dirty="0"/>
              <a:t>Funcionamiento PROD LAB NAS y aires acc.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▶"/>
            </a:pPr>
            <a:endParaRPr lang="en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▶"/>
            </a:pPr>
            <a:r>
              <a:rPr lang="en" dirty="0"/>
              <a:t>DisasterRecovery CABA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8" name="Google Shape;368;p51"/>
          <p:cNvSpPr txBox="1">
            <a:spLocks noGrp="1"/>
          </p:cNvSpPr>
          <p:nvPr>
            <p:ph type="subTitle" idx="2"/>
          </p:nvPr>
        </p:nvSpPr>
        <p:spPr>
          <a:xfrm>
            <a:off x="2399929" y="1407221"/>
            <a:ext cx="5743200" cy="2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Siempre verificar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8"/>
          <p:cNvSpPr txBox="1">
            <a:spLocks noGrp="1"/>
          </p:cNvSpPr>
          <p:nvPr>
            <p:ph type="ctrTitle"/>
          </p:nvPr>
        </p:nvSpPr>
        <p:spPr>
          <a:xfrm>
            <a:off x="1283932" y="1228835"/>
            <a:ext cx="3557400" cy="97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Gracias!</a:t>
            </a:r>
            <a:endParaRPr dirty="0"/>
          </a:p>
        </p:txBody>
      </p:sp>
      <p:sp>
        <p:nvSpPr>
          <p:cNvPr id="517" name="Google Shape;517;p58"/>
          <p:cNvSpPr txBox="1">
            <a:spLocks noGrp="1"/>
          </p:cNvSpPr>
          <p:nvPr>
            <p:ph type="subTitle" idx="4294967295"/>
          </p:nvPr>
        </p:nvSpPr>
        <p:spPr>
          <a:xfrm>
            <a:off x="1347730" y="2159622"/>
            <a:ext cx="3557400" cy="33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Consultas, dudas?</a:t>
            </a:r>
            <a:endParaRPr/>
          </a:p>
        </p:txBody>
      </p:sp>
      <p:sp>
        <p:nvSpPr>
          <p:cNvPr id="518" name="Google Shape;518;p58"/>
          <p:cNvSpPr/>
          <p:nvPr/>
        </p:nvSpPr>
        <p:spPr>
          <a:xfrm>
            <a:off x="1438405" y="3378219"/>
            <a:ext cx="299356" cy="299660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9" name="Google Shape;519;p58"/>
          <p:cNvGrpSpPr/>
          <p:nvPr/>
        </p:nvGrpSpPr>
        <p:grpSpPr>
          <a:xfrm>
            <a:off x="1827430" y="3378698"/>
            <a:ext cx="299650" cy="299388"/>
            <a:chOff x="3303268" y="3817349"/>
            <a:chExt cx="346056" cy="345674"/>
          </a:xfrm>
        </p:grpSpPr>
        <p:sp>
          <p:nvSpPr>
            <p:cNvPr id="520" name="Google Shape;520;p58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58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8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8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58"/>
          <p:cNvGrpSpPr/>
          <p:nvPr/>
        </p:nvGrpSpPr>
        <p:grpSpPr>
          <a:xfrm>
            <a:off x="2216296" y="3378698"/>
            <a:ext cx="299650" cy="299388"/>
            <a:chOff x="3752358" y="3817349"/>
            <a:chExt cx="346056" cy="345674"/>
          </a:xfrm>
        </p:grpSpPr>
        <p:sp>
          <p:nvSpPr>
            <p:cNvPr id="525" name="Google Shape;525;p58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8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8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8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9" name="Google Shape;529;p58"/>
          <p:cNvGrpSpPr/>
          <p:nvPr/>
        </p:nvGrpSpPr>
        <p:grpSpPr>
          <a:xfrm>
            <a:off x="2605163" y="3378698"/>
            <a:ext cx="299622" cy="299388"/>
            <a:chOff x="4201447" y="3817349"/>
            <a:chExt cx="346024" cy="345674"/>
          </a:xfrm>
        </p:grpSpPr>
        <p:sp>
          <p:nvSpPr>
            <p:cNvPr id="530" name="Google Shape;530;p58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8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58"/>
          <p:cNvSpPr txBox="1">
            <a:spLocks noGrp="1"/>
          </p:cNvSpPr>
          <p:nvPr>
            <p:ph type="subTitle" idx="4294967295"/>
          </p:nvPr>
        </p:nvSpPr>
        <p:spPr>
          <a:xfrm>
            <a:off x="1347730" y="2561431"/>
            <a:ext cx="3557400" cy="7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manu_pasquali</a:t>
            </a:r>
            <a:r>
              <a:rPr lang="en">
                <a:uFill>
                  <a:noFill/>
                </a:uFill>
                <a:hlinkClick r:id="rId3"/>
              </a:rPr>
              <a:t>@hotmail.com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+54 221 6746261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jpasquali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.com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ail Campaign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DE3564"/>
      </a:accent1>
      <a:accent2>
        <a:srgbClr val="372266"/>
      </a:accent2>
      <a:accent3>
        <a:srgbClr val="F6F6F6"/>
      </a:accent3>
      <a:accent4>
        <a:srgbClr val="503B80"/>
      </a:accent4>
      <a:accent5>
        <a:srgbClr val="8167BD"/>
      </a:accent5>
      <a:accent6>
        <a:srgbClr val="F8628C"/>
      </a:accent6>
      <a:hlink>
        <a:srgbClr val="DE356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1275</Words>
  <Application>Microsoft Office PowerPoint</Application>
  <PresentationFormat>On-screen Show (16:9)</PresentationFormat>
  <Paragraphs>107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Exo 2</vt:lpstr>
      <vt:lpstr>Overlock</vt:lpstr>
      <vt:lpstr>Email Campaign by Slidesgo</vt:lpstr>
      <vt:lpstr>Monitoreo Datacenter</vt:lpstr>
      <vt:lpstr>PowerPoint Presentation</vt:lpstr>
      <vt:lpstr>01.</vt:lpstr>
      <vt:lpstr>Nuestro trabajo</vt:lpstr>
      <vt:lpstr>El Lenguaje y el Modelo de Concurrencia</vt:lpstr>
      <vt:lpstr>Conurrencia</vt:lpstr>
      <vt:lpstr>Sincronización y Bloqueo</vt:lpstr>
      <vt:lpstr>Interfaz Gráfica </vt:lpstr>
      <vt:lpstr>02.</vt:lpstr>
      <vt:lpstr>Objetivo : Ambiente estable y controlado</vt:lpstr>
      <vt:lpstr>03.</vt:lpstr>
      <vt:lpstr>Equipos instalados en la sala</vt:lpstr>
      <vt:lpstr>04.</vt:lpstr>
      <vt:lpstr>Corte de suministro eléctrico</vt:lpstr>
      <vt:lpstr>Redundancia electrica</vt:lpstr>
      <vt:lpstr>Servidores PROD LAB NAS</vt:lpstr>
      <vt:lpstr>Aires acondicionados</vt:lpstr>
      <vt:lpstr>Alta disponibilidad  en emergencia</vt:lpstr>
      <vt:lpstr>Log de eventos</vt:lpstr>
      <vt:lpstr>Temperatura ambiente</vt:lpstr>
      <vt:lpstr>05.</vt:lpstr>
      <vt:lpstr>Obtenemos</vt:lpstr>
      <vt:lpstr>Chequeos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juan</dc:creator>
  <cp:lastModifiedBy>Juan Manuel Pasquali</cp:lastModifiedBy>
  <cp:revision>4</cp:revision>
  <dcterms:modified xsi:type="dcterms:W3CDTF">2026-02-04T12:57:19Z</dcterms:modified>
</cp:coreProperties>
</file>